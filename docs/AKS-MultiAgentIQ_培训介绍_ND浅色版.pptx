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18"/>
    <p:sldId id="284" r:id="rId19"/>
    <p:sldId id="285" r:id="rId20"/>
    <p:sldId id="286" r:id="rId21"/>
    <p:sldId id="282" r:id="rId22"/>
    <p:sldId id="281" r:id="rId23"/>
    <p:sldId id="272" r:id="rId24"/>
    <p:sldId id="273" r:id="rId25"/>
    <p:sldId id="274" r:id="rId26"/>
    <p:sldId id="276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95" d="100"/>
          <a:sy n="95" d="100"/>
        </p:scale>
        <p:origin x="200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Tarry" userId="1f57f516a5378c73" providerId="LiveId" clId="{20A9B960-2B37-5E40-978D-7DD25D62D238}"/>
    <pc:docChg chg="modSld">
      <pc:chgData name="Wang Tarry" userId="1f57f516a5378c73" providerId="LiveId" clId="{20A9B960-2B37-5E40-978D-7DD25D62D238}" dt="2026-08-27T07:32:16.271" v="2" actId="1076"/>
      <pc:docMkLst>
        <pc:docMk/>
      </pc:docMkLst>
      <pc:sldChg chg="modSp mod">
        <pc:chgData name="Wang Tarry" userId="1f57f516a5378c73" providerId="LiveId" clId="{20A9B960-2B37-5E40-978D-7DD25D62D238}" dt="2026-08-27T07:32:16.271" v="2" actId="1076"/>
        <pc:sldMkLst>
          <pc:docMk/>
          <pc:sldMk cId="4085364693" sldId="282"/>
        </pc:sldMkLst>
        <pc:picChg chg="mod">
          <ac:chgData name="Wang Tarry" userId="1f57f516a5378c73" providerId="LiveId" clId="{20A9B960-2B37-5E40-978D-7DD25D62D238}" dt="2026-08-27T07:32:16.271" v="2" actId="1076"/>
          <ac:picMkLst>
            <pc:docMk/>
            <pc:sldMk cId="4085364693" sldId="282"/>
            <ac:picMk id="15" creationId="{45F1A2AE-0EC9-BBA8-ACF5-7F4D711F1A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01783-C2EC-314C-B086-CA5DF26DD5B7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B0109-3B6C-5549-AD54-FB656D297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2316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4727-234D-59E6-9441-9359AF0AD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159B37-0473-658E-09CE-2D6326214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676E9E-4E1E-7B94-5DDC-2093D2E40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4A5BD-6ADE-9F2F-5F1A-80B69804A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B0109-3B6C-5549-AD54-FB656D29722B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627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B0109-3B6C-5549-AD54-FB656D29722B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190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host-n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6309360" cy="475488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57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spc="-25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58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94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8B82A0"/>
                </a:solidFill>
                <a:latin typeface="Geist Mono Medium"/>
                <a:ea typeface="Noto Sans SC"/>
              </a:rPr>
              <a:t>WORKSHOP · 180 MIN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320">
                <a:solidFill>
                  <a:srgbClr val="4A3D6E"/>
                </a:solidFill>
                <a:latin typeface="Geist Mono Medium"/>
                <a:ea typeface="Noto Sans SC"/>
              </a:rPr>
              <a:t>AI FRONTIER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109728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200" b="0" i="0" spc="-40" dirty="0">
                <a:solidFill>
                  <a:srgbClr val="2A1E4A"/>
                </a:solidFill>
                <a:latin typeface="Geist Medium"/>
                <a:ea typeface="Noto Sans SC"/>
              </a:rPr>
              <a:t>企业智能</a:t>
            </a:r>
            <a:r>
              <a:rPr sz="6200" b="0" i="0" spc="-40" dirty="0" err="1">
                <a:solidFill>
                  <a:srgbClr val="2A1E4A"/>
                </a:solidFill>
                <a:latin typeface="Geist Medium"/>
                <a:ea typeface="Noto Sans SC"/>
              </a:rPr>
              <a:t>运营实战</a:t>
            </a:r>
            <a:r>
              <a:rPr lang="zh-CN" altLang="en-US" sz="6200" b="0" i="0" spc="-40" dirty="0">
                <a:solidFill>
                  <a:srgbClr val="2A1E4A"/>
                </a:solidFill>
                <a:latin typeface="Geist Medium"/>
                <a:ea typeface="Noto Sans SC"/>
              </a:rPr>
              <a:t> </a:t>
            </a:r>
            <a:endParaRPr sz="6200" b="0" i="0" spc="-40" dirty="0">
              <a:solidFill>
                <a:srgbClr val="2A1E4A"/>
              </a:solidFill>
              <a:latin typeface="Geist Medium"/>
              <a:ea typeface="Noto Sans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0" i="1" dirty="0">
                <a:solidFill>
                  <a:srgbClr val="2A1E4A"/>
                </a:solidFill>
                <a:latin typeface="Instrument Serif"/>
                <a:ea typeface="Noto Sans SC"/>
              </a:rPr>
              <a:t>Ontology to production,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0" i="1" dirty="0">
                <a:solidFill>
                  <a:srgbClr val="2A1E4A"/>
                </a:solidFill>
                <a:latin typeface="Instrument Serif"/>
                <a:ea typeface="Noto Sans SC"/>
              </a:rPr>
              <a:t>in three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0584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150" dirty="0">
                <a:solidFill>
                  <a:srgbClr val="4A3D6E"/>
                </a:solidFill>
                <a:latin typeface="Geist Mono Medium"/>
                <a:ea typeface="Noto Sans SC"/>
              </a:rPr>
              <a:t>Microsoft Fabric IQ </a:t>
            </a:r>
            <a:r>
              <a:rPr sz="1150" b="0" i="0" spc="150" dirty="0" err="1">
                <a:solidFill>
                  <a:srgbClr val="4A3D6E"/>
                </a:solidFill>
                <a:latin typeface="Geist Mono Medium"/>
                <a:ea typeface="Noto Sans SC"/>
              </a:rPr>
              <a:t>本体</a:t>
            </a:r>
            <a:r>
              <a:rPr sz="1150" b="0" i="0" spc="150" dirty="0">
                <a:solidFill>
                  <a:srgbClr val="4A3D6E"/>
                </a:solidFill>
                <a:latin typeface="Geist Mono Medium"/>
                <a:ea typeface="Noto Sans SC"/>
              </a:rPr>
              <a:t>   ·   MCP   ·   Agent Framework   ·   AKS </a:t>
            </a:r>
            <a:r>
              <a:rPr sz="1150" b="0" i="0" spc="150" dirty="0" err="1">
                <a:solidFill>
                  <a:srgbClr val="4A3D6E"/>
                </a:solidFill>
                <a:latin typeface="Geist Mono Medium"/>
                <a:ea typeface="Noto Sans SC"/>
              </a:rPr>
              <a:t>部署</a:t>
            </a:r>
            <a:endParaRPr sz="1150" b="0" i="0" spc="150" dirty="0">
              <a:solidFill>
                <a:srgbClr val="4A3D6E"/>
              </a:solidFill>
              <a:latin typeface="Geist Mono Medium"/>
              <a:ea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 spc="-25">
                <a:solidFill>
                  <a:srgbClr val="2A1E4A"/>
                </a:solidFill>
                <a:latin typeface="Geist Medium"/>
                <a:ea typeface="Noto Sans SC"/>
              </a:rPr>
              <a:t>目录 </a:t>
            </a:r>
            <a:r>
              <a:rPr sz="5400" b="0" i="1">
                <a:solidFill>
                  <a:srgbClr val="4A3D6E"/>
                </a:solidFill>
                <a:latin typeface="Instrument Serif"/>
                <a:ea typeface="Noto Sans SC"/>
              </a:rPr>
              <a:t>Contents</a:t>
            </a:r>
          </a:p>
        </p:txBody>
      </p:sp>
      <p:pic>
        <p:nvPicPr>
          <p:cNvPr id="13" name="Picture 12" descr="ghost-nd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0" y="3200400"/>
            <a:ext cx="3657600" cy="2743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5486400" y="2002536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0" y="21945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3055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一页总览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7802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2A0"/>
                </a:solidFill>
                <a:latin typeface="Instrument Serif"/>
                <a:ea typeface="Noto Sans SC"/>
              </a:rPr>
              <a:t>The whole thing on one page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0" y="2660904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0" y="285292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故事与要解决的问题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3639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2A0"/>
                </a:solidFill>
                <a:latin typeface="Instrument Serif"/>
                <a:ea typeface="Noto Sans SC"/>
              </a:rPr>
              <a:t>The story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0" y="3319272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0" y="35112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4728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设计的逻辑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9476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2A0"/>
                </a:solidFill>
                <a:latin typeface="Instrument Serif"/>
                <a:ea typeface="Noto Sans SC"/>
              </a:rPr>
              <a:t>Design rationale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0" y="3977640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0" y="4169664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0565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技术框架与微软技术地图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53128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2A0"/>
                </a:solidFill>
                <a:latin typeface="Instrument Serif"/>
                <a:ea typeface="Noto Sans SC"/>
              </a:rPr>
              <a:t>Architecture &amp; mapping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0" y="4636008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0" y="482803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64024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讲课的逻辑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11496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2A0"/>
                </a:solidFill>
                <a:latin typeface="Instrument Serif"/>
                <a:ea typeface="Noto Sans SC"/>
              </a:rPr>
              <a:t>How it is taught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0" y="5294376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0" y="54864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2239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我认为重要的事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986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2A0"/>
                </a:solidFill>
                <a:latin typeface="Instrument Serif"/>
                <a:ea typeface="Noto Sans SC"/>
              </a:rPr>
              <a:t>What actually matters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0" y="5952744"/>
            <a:ext cx="621792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00 · ONE-PAGE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一页总览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Everything, at a glance.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26974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36576" cy="178308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1">
                <a:solidFill>
                  <a:srgbClr val="2A1E4A"/>
                </a:solidFill>
                <a:latin typeface="Instrument Serif"/>
                <a:ea typeface="Noto Sans SC"/>
              </a:rPr>
              <a:t>180</a:t>
            </a:r>
            <a:r>
              <a:rPr sz="1400" b="0" i="0">
                <a:solidFill>
                  <a:srgbClr val="4A3D6E"/>
                </a:solidFill>
                <a:latin typeface="Geist Medium"/>
                <a:ea typeface="Noto Sans SC"/>
              </a:rPr>
              <a:t> 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80">
                <a:solidFill>
                  <a:srgbClr val="8B82A0"/>
                </a:solidFill>
                <a:latin typeface="Geist Mono Medium"/>
                <a:ea typeface="Noto Sans SC"/>
              </a:rPr>
              <a:t>开场 15 · Lab 140 · 收尾 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240280"/>
            <a:ext cx="26974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2240280"/>
            <a:ext cx="36576" cy="178308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20" y="2468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1">
                <a:solidFill>
                  <a:srgbClr val="2A1E4A"/>
                </a:solidFill>
                <a:latin typeface="Instrument Serif"/>
                <a:ea typeface="Noto Sans SC"/>
              </a:rPr>
              <a:t>05</a:t>
            </a:r>
            <a:r>
              <a:rPr sz="1400" b="0" i="0">
                <a:solidFill>
                  <a:srgbClr val="4A3D6E"/>
                </a:solidFill>
                <a:latin typeface="Geist Medium"/>
                <a:ea typeface="Noto Sans SC"/>
              </a:rPr>
              <a:t>  个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429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80">
                <a:solidFill>
                  <a:srgbClr val="8B82A0"/>
                </a:solidFill>
                <a:latin typeface="Geist Mono Medium"/>
                <a:ea typeface="Noto Sans SC"/>
              </a:rPr>
              <a:t>从本体到上云,五段递进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40280"/>
            <a:ext cx="26974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240280"/>
            <a:ext cx="36576" cy="178308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468880"/>
            <a:ext cx="2148840" cy="892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1" dirty="0">
                <a:solidFill>
                  <a:srgbClr val="2A1E4A"/>
                </a:solidFill>
                <a:latin typeface="Instrument Serif"/>
                <a:ea typeface="Noto Sans SC"/>
              </a:rPr>
              <a:t>04</a:t>
            </a:r>
            <a:r>
              <a:rPr sz="1400" b="0" i="0" dirty="0">
                <a:solidFill>
                  <a:srgbClr val="4A3D6E"/>
                </a:solidFill>
                <a:latin typeface="Geist Medium"/>
                <a:ea typeface="Noto Sans SC"/>
              </a:rPr>
              <a:t>  </a:t>
            </a:r>
            <a:r>
              <a:rPr sz="1400" b="0" i="0" dirty="0" err="1">
                <a:solidFill>
                  <a:srgbClr val="4A3D6E"/>
                </a:solidFill>
                <a:latin typeface="Geist Medium"/>
                <a:ea typeface="Noto Sans SC"/>
              </a:rPr>
              <a:t>个动手点</a:t>
            </a:r>
            <a:endParaRPr lang="en-US" sz="1400" b="0" i="0" dirty="0">
              <a:solidFill>
                <a:srgbClr val="4A3D6E"/>
              </a:solidFill>
              <a:latin typeface="Geist Medium"/>
              <a:ea typeface="Noto Sans SC"/>
            </a:endParaRPr>
          </a:p>
          <a:p>
            <a:pPr algn="l"/>
            <a:endParaRPr sz="1400" b="0" i="0" dirty="0">
              <a:solidFill>
                <a:srgbClr val="4A3D6E"/>
              </a:solidFill>
              <a:latin typeface="Geist Medium"/>
              <a:ea typeface="Noto Sans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7960" y="3429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80">
                <a:solidFill>
                  <a:srgbClr val="8B82A0"/>
                </a:solidFill>
                <a:latin typeface="Geist Mono Medium"/>
                <a:ea typeface="Noto Sans SC"/>
              </a:rPr>
              <a:t>Lab 01 / 02 / 03 / 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240280"/>
            <a:ext cx="26974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52560" y="2240280"/>
            <a:ext cx="36576" cy="178308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2468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1" dirty="0">
                <a:solidFill>
                  <a:srgbClr val="2A1E4A"/>
                </a:solidFill>
                <a:latin typeface="Instrument Serif"/>
                <a:ea typeface="Noto Sans SC"/>
              </a:rPr>
              <a:t>00</a:t>
            </a:r>
            <a:r>
              <a:rPr sz="1400" b="0" i="0" dirty="0">
                <a:solidFill>
                  <a:srgbClr val="4A3D6E"/>
                </a:solidFill>
                <a:latin typeface="Geist Medium"/>
                <a:ea typeface="Noto Sans SC"/>
              </a:rPr>
              <a:t>  </a:t>
            </a:r>
            <a:r>
              <a:rPr sz="1400" b="0" i="0" dirty="0" err="1">
                <a:solidFill>
                  <a:srgbClr val="4A3D6E"/>
                </a:solidFill>
                <a:latin typeface="Geist Medium"/>
                <a:ea typeface="Noto Sans SC"/>
              </a:rPr>
              <a:t>个</a:t>
            </a:r>
            <a:r>
              <a:rPr sz="1400" b="0" i="0" dirty="0">
                <a:solidFill>
                  <a:srgbClr val="4A3D6E"/>
                </a:solidFill>
                <a:latin typeface="Geist Medium"/>
                <a:ea typeface="Noto Sans SC"/>
              </a:rPr>
              <a:t>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429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80" dirty="0" err="1">
                <a:solidFill>
                  <a:srgbClr val="8B82A0"/>
                </a:solidFill>
                <a:latin typeface="Geist Mono Medium"/>
                <a:ea typeface="Noto Sans SC"/>
              </a:rPr>
              <a:t>全程</a:t>
            </a:r>
            <a:r>
              <a:rPr sz="950" b="0" i="0" spc="80" dirty="0">
                <a:solidFill>
                  <a:srgbClr val="8B82A0"/>
                </a:solidFill>
                <a:latin typeface="Geist Mono Medium"/>
                <a:ea typeface="Noto Sans SC"/>
              </a:rPr>
              <a:t> Entra </a:t>
            </a:r>
            <a:r>
              <a:rPr sz="950" b="0" i="0" spc="80" dirty="0" err="1">
                <a:solidFill>
                  <a:srgbClr val="8B82A0"/>
                </a:solidFill>
                <a:latin typeface="Geist Mono Medium"/>
                <a:ea typeface="Noto Sans SC"/>
              </a:rPr>
              <a:t>工作负载身份</a:t>
            </a:r>
            <a:endParaRPr sz="950" b="0" i="0" spc="80" dirty="0">
              <a:solidFill>
                <a:srgbClr val="8B82A0"/>
              </a:solidFill>
              <a:latin typeface="Geist Mono Medium"/>
              <a:ea typeface="Noto Sans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4251960"/>
            <a:ext cx="11155680" cy="1143000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480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20">
                <a:solidFill>
                  <a:srgbClr val="8B82A0"/>
                </a:solidFill>
                <a:latin typeface="Geist Mono Medium"/>
                <a:ea typeface="Noto Sans SC"/>
              </a:rPr>
              <a:t>THE THROUGH-LINE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28032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1">
                <a:solidFill>
                  <a:srgbClr val="F4F2EC"/>
                </a:solidFill>
                <a:latin typeface="Instrument Serif"/>
                <a:ea typeface="Noto Sans SC"/>
              </a:rPr>
              <a:t>Understand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5">
                <a:solidFill>
                  <a:srgbClr val="F4F2EC"/>
                </a:solidFill>
                <a:latin typeface="Geist Medium"/>
                <a:ea typeface="Noto Sans SC"/>
              </a:rPr>
              <a:t>读得懂业务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8280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F4F2EC"/>
                </a:solidFill>
                <a:latin typeface="Instrument Serif"/>
                <a:ea typeface="Noto Sans SC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828032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1">
                <a:solidFill>
                  <a:srgbClr val="F4F2EC"/>
                </a:solidFill>
                <a:latin typeface="Instrument Serif"/>
                <a:ea typeface="Noto Sans SC"/>
              </a:rPr>
              <a:t>Reason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1389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5">
                <a:solidFill>
                  <a:srgbClr val="F4F2EC"/>
                </a:solidFill>
                <a:latin typeface="Geist Medium"/>
                <a:ea typeface="Noto Sans SC"/>
              </a:rPr>
              <a:t>想得通问题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48280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F4F2EC"/>
                </a:solidFill>
                <a:latin typeface="Instrument Serif"/>
                <a:ea typeface="Noto Sans SC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828032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1">
                <a:solidFill>
                  <a:srgbClr val="F4F2EC"/>
                </a:solidFill>
                <a:latin typeface="Instrument Serif"/>
                <a:ea typeface="Noto Sans SC"/>
              </a:rP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389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5">
                <a:solidFill>
                  <a:srgbClr val="F4F2EC"/>
                </a:solidFill>
                <a:latin typeface="Geist Medium"/>
                <a:ea typeface="Noto Sans SC"/>
              </a:rPr>
              <a:t>搭得起来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280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F4F2EC"/>
                </a:solidFill>
                <a:latin typeface="Instrument Serif"/>
                <a:ea typeface="Noto Sans SC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4828032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1">
                <a:solidFill>
                  <a:srgbClr val="F4F2EC"/>
                </a:solidFill>
                <a:latin typeface="Instrument Serif"/>
                <a:ea typeface="Noto Sans SC"/>
              </a:rPr>
              <a:t>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1389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5">
                <a:solidFill>
                  <a:srgbClr val="F4F2EC"/>
                </a:solidFill>
                <a:latin typeface="Geist Medium"/>
                <a:ea typeface="Noto Sans SC"/>
              </a:rPr>
              <a:t>跑得动规模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62356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57607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2A1E4A"/>
                </a:solidFill>
                <a:latin typeface="Geist Medium"/>
                <a:ea typeface="Noto Sans SC"/>
              </a:rPr>
              <a:t>把散落在三个系统里的经营数据,变成可被追问、可被信任的运营智能。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79729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120">
                <a:solidFill>
                  <a:srgbClr val="8B82A0"/>
                </a:solidFill>
                <a:latin typeface="Geist Mono Medium"/>
                <a:ea typeface="Noto Sans SC"/>
              </a:rPr>
              <a:t>3 实体 · 2 关系 · 11 行数据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host-n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6858000" cy="512064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SECTION ·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04 /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320">
                <a:solidFill>
                  <a:srgbClr val="4A3D6E"/>
                </a:solidFill>
                <a:latin typeface="Geist Mono Medium"/>
                <a:ea typeface="Noto Sans SC"/>
              </a:rPr>
              <a:t>01 /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 spc="-30">
                <a:solidFill>
                  <a:srgbClr val="2A1E4A"/>
                </a:solidFill>
                <a:latin typeface="Geist Medium"/>
                <a:ea typeface="Noto Sans SC"/>
              </a:rPr>
              <a:t>故事与要解决的问题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400" b="0" i="1">
                <a:solidFill>
                  <a:srgbClr val="2A1E4A"/>
                </a:solidFill>
                <a:latin typeface="Instrument Serif"/>
                <a:ea typeface="Noto Sans SC"/>
              </a:rPr>
              <a:t>The 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THE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01 ·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这家公司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A company at full sprint.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240280"/>
            <a:ext cx="6858000" cy="8320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 dirty="0" err="1">
                <a:solidFill>
                  <a:srgbClr val="2A1E4A"/>
                </a:solidFill>
                <a:latin typeface="Geist Medium"/>
                <a:ea typeface="Noto Sans SC"/>
              </a:rPr>
              <a:t>一家</a:t>
            </a:r>
            <a:r>
              <a:rPr sz="1900" b="0" i="0" dirty="0">
                <a:solidFill>
                  <a:srgbClr val="2A1E4A"/>
                </a:solidFill>
                <a:latin typeface="Geist Medium"/>
                <a:ea typeface="Noto Sans SC"/>
              </a:rPr>
              <a:t> AI frontier </a:t>
            </a:r>
            <a:r>
              <a:rPr sz="1900" b="0" i="0" dirty="0" err="1">
                <a:solidFill>
                  <a:srgbClr val="2A1E4A"/>
                </a:solidFill>
                <a:latin typeface="Geist Medium"/>
                <a:ea typeface="Noto Sans SC"/>
              </a:rPr>
              <a:t>company,交付侧早就用上了</a:t>
            </a:r>
            <a:r>
              <a:rPr sz="1900" b="0" i="0" dirty="0">
                <a:solidFill>
                  <a:srgbClr val="2A1E4A"/>
                </a:solidFill>
                <a:latin typeface="Geist Medium"/>
                <a:ea typeface="Noto Sans SC"/>
              </a:rPr>
              <a:t> AI,</a:t>
            </a:r>
          </a:p>
          <a:p>
            <a:pPr algn="l">
              <a:lnSpc>
                <a:spcPct val="150000"/>
              </a:lnSpc>
            </a:pPr>
            <a:r>
              <a:rPr sz="1900" b="0" i="0" dirty="0" err="1">
                <a:solidFill>
                  <a:srgbClr val="2A1E4A"/>
                </a:solidFill>
                <a:latin typeface="Geist Medium"/>
                <a:ea typeface="Noto Sans SC"/>
              </a:rPr>
              <a:t>运营侧却还在人肉</a:t>
            </a:r>
            <a:r>
              <a:rPr lang="zh-CN" altLang="en-US" sz="1900" b="0" i="0" dirty="0">
                <a:solidFill>
                  <a:srgbClr val="2A1E4A"/>
                </a:solidFill>
                <a:latin typeface="Geist Medium"/>
                <a:ea typeface="Noto Sans SC"/>
              </a:rPr>
              <a:t>数据</a:t>
            </a:r>
            <a:r>
              <a:rPr sz="1900" b="0" i="0" dirty="0">
                <a:solidFill>
                  <a:srgbClr val="2A1E4A"/>
                </a:solidFill>
                <a:latin typeface="Geist Medium"/>
                <a:ea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8B82A0"/>
                </a:solidFill>
                <a:latin typeface="Geist Mono Medium"/>
                <a:ea typeface="Noto Sans SC"/>
              </a:rPr>
              <a:t>四个特征,放大同一个矛盾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794760"/>
            <a:ext cx="685800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904488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0">
                <a:solidFill>
                  <a:srgbClr val="2A1E4A"/>
                </a:solidFill>
                <a:latin typeface="Geist Medium"/>
                <a:ea typeface="Noto Sans SC"/>
              </a:rPr>
              <a:t>高速扩张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931920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多条研发线并行,每周重排优先级 — 静态报表永远过期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398264"/>
            <a:ext cx="685800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50799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0">
                <a:solidFill>
                  <a:srgbClr val="2A1E4A"/>
                </a:solidFill>
                <a:latin typeface="Geist Medium"/>
                <a:ea typeface="Noto Sans SC"/>
              </a:rPr>
              <a:t>资源稀缺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535424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算力与预算最紧 —「钱花在哪、还剩多少」必须随时说清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001768"/>
            <a:ext cx="685800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111496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0">
                <a:solidFill>
                  <a:srgbClr val="2A1E4A"/>
                </a:solidFill>
                <a:latin typeface="Geist Medium"/>
                <a:ea typeface="Noto Sans SC"/>
              </a:rPr>
              <a:t>AI 已在交付侧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3892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产品里到处是 agent,内部经营分析却靠手工 join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605272"/>
            <a:ext cx="685800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715000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0">
                <a:solidFill>
                  <a:srgbClr val="2A1E4A"/>
                </a:solidFill>
                <a:latin typeface="Geist Medium"/>
                <a:ea typeface="Noto Sans SC"/>
              </a:rPr>
              <a:t>决策要快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74243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经营会上的问题不能等一天,答案慢了决策就过期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240280"/>
            <a:ext cx="38404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2514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— 真正的缺口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92608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1">
                <a:solidFill>
                  <a:srgbClr val="2A1E4A"/>
                </a:solidFill>
                <a:latin typeface="Instrument Serif"/>
                <a:ea typeface="Noto Sans SC"/>
              </a:rPr>
              <a:t>「数据全都在,</a:t>
            </a:r>
          </a:p>
          <a:p>
            <a:pPr algn="l">
              <a:lnSpc>
                <a:spcPct val="125000"/>
              </a:lnSpc>
            </a:pPr>
            <a:r>
              <a:rPr sz="2500" b="0" i="1">
                <a:solidFill>
                  <a:srgbClr val="2A1E4A"/>
                </a:solidFill>
                <a:latin typeface="Instrument Serif"/>
                <a:ea typeface="Noto Sans SC"/>
              </a:rPr>
              <a:t>缺的是把它们</a:t>
            </a:r>
          </a:p>
          <a:p>
            <a:pPr algn="l">
              <a:lnSpc>
                <a:spcPct val="125000"/>
              </a:lnSpc>
            </a:pPr>
            <a:r>
              <a:rPr sz="2500" b="0" i="1">
                <a:solidFill>
                  <a:srgbClr val="2A1E4A"/>
                </a:solidFill>
                <a:latin typeface="Instrument Serif"/>
                <a:ea typeface="Noto Sans SC"/>
              </a:rPr>
              <a:t>连起来的那一层</a:t>
            </a:r>
          </a:p>
          <a:p>
            <a:pPr algn="l">
              <a:lnSpc>
                <a:spcPct val="125000"/>
              </a:lnSpc>
            </a:pPr>
            <a:r>
              <a:rPr sz="2500" b="0" i="1">
                <a:solidFill>
                  <a:srgbClr val="2A1E4A"/>
                </a:solidFill>
                <a:latin typeface="Instrument Serif"/>
                <a:ea typeface="Noto Sans SC"/>
              </a:rPr>
              <a:t>理解」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5440680"/>
            <a:ext cx="36576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8B82A0"/>
                </a:solidFill>
                <a:latin typeface="Geist Mono Medium"/>
                <a:ea typeface="Noto Sans SC"/>
              </a:rPr>
              <a:t>开场 15 分钟就讲这一页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01 · DATA IN SILOS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运营团队的一天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Three systems, no relationship.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6060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20">
                <a:solidFill>
                  <a:srgbClr val="8B82A0"/>
                </a:solidFill>
                <a:latin typeface="Geist Mono Medium"/>
                <a:ea typeface="Noto Sans SC"/>
              </a:rP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spc="-15">
                <a:solidFill>
                  <a:srgbClr val="2A1E4A"/>
                </a:solidFill>
                <a:latin typeface="Geist Medium"/>
                <a:ea typeface="Noto Sans SC"/>
              </a:rPr>
              <a:t>财务系统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7472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393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资金池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余额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类型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461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0" i="1">
                <a:solidFill>
                  <a:srgbClr val="8B82A0"/>
                </a:solidFill>
                <a:latin typeface="Instrument Serif"/>
                <a:ea typeface="Noto Sans SC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37744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26060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20">
                <a:solidFill>
                  <a:srgbClr val="8B82A0"/>
                </a:solidFill>
                <a:latin typeface="Geist Mono Medium"/>
                <a:ea typeface="Noto Sans SC"/>
              </a:rPr>
              <a:t>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26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spc="-15">
                <a:solidFill>
                  <a:srgbClr val="2A1E4A"/>
                </a:solidFill>
                <a:latin typeface="Geist Medium"/>
                <a:ea typeface="Noto Sans SC"/>
              </a:rPr>
              <a:t>规划文档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347472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36393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研发项目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931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预算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2245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2461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0" i="1">
                <a:solidFill>
                  <a:srgbClr val="8B82A0"/>
                </a:solidFill>
                <a:latin typeface="Instrument Serif"/>
                <a:ea typeface="Noto Sans SC"/>
              </a:rPr>
              <a:t>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237744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15400" y="26060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20">
                <a:solidFill>
                  <a:srgbClr val="8B82A0"/>
                </a:solidFill>
                <a:latin typeface="Geist Mono Medium"/>
                <a:ea typeface="Noto Sans SC"/>
              </a:rPr>
              <a:t>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926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spc="-15">
                <a:solidFill>
                  <a:srgbClr val="2A1E4A"/>
                </a:solidFill>
                <a:latin typeface="Geist Medium"/>
                <a:ea typeface="Noto Sans SC"/>
              </a:rPr>
              <a:t>追踪工具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347472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36393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工作流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931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工时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2245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状态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4983480"/>
            <a:ext cx="11155680" cy="0"/>
          </a:xfrm>
          <a:prstGeom prst="line">
            <a:avLst/>
          </a:prstGeom>
          <a:ln w="9525">
            <a:solidFill>
              <a:srgbClr val="C5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关系不在任何一个系统里 —— </a:t>
            </a:r>
            <a:r>
              <a:rPr sz="2100" b="0" i="1">
                <a:solidFill>
                  <a:srgbClr val="4A3D6E"/>
                </a:solidFill>
                <a:latin typeface="Instrument Serif"/>
                <a:ea typeface="Noto Sans SC"/>
              </a:rPr>
              <a:t>it lives in someone's head, and one weekly spreadsheet.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每个系统各自都没问题。问题是关系从来没有被建模。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THE FOUR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01 · THE SPINE OF THE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四个真实提问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Where the spreadsheet breaks.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11155680" cy="566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404872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80">
                <a:solidFill>
                  <a:srgbClr val="4A3D6E"/>
                </a:solidFill>
                <a:latin typeface="Geist Medium"/>
                <a:ea typeface="Noto Sans SC"/>
              </a:rPr>
              <a:t>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404872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80">
                <a:solidFill>
                  <a:srgbClr val="4A3D6E"/>
                </a:solidFill>
                <a:latin typeface="Geist Medium"/>
                <a:ea typeface="Noto Sans SC"/>
              </a:rPr>
              <a:t>运营团队的提问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0487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80">
                <a:solidFill>
                  <a:srgbClr val="4A3D6E"/>
                </a:solidFill>
                <a:latin typeface="Geist Medium"/>
                <a:ea typeface="Noto Sans SC"/>
              </a:rPr>
              <a:t>表格能做吗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404872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80">
                <a:solidFill>
                  <a:srgbClr val="4A3D6E"/>
                </a:solidFill>
                <a:latin typeface="Geist Medium"/>
                <a:ea typeface="Noto Sans SC"/>
              </a:rPr>
              <a:t>需要的能力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07208"/>
            <a:ext cx="11155680" cy="71323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0266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4A3D6E"/>
                </a:solidFill>
                <a:latin typeface="Geist Mono Medium"/>
                <a:ea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00837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spc="-10">
                <a:solidFill>
                  <a:srgbClr val="2A1E4A"/>
                </a:solidFill>
                <a:latin typeface="Geist Medium"/>
                <a:ea typeface="Noto Sans SC"/>
              </a:rPr>
              <a:t>哪些项目正在推进?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2666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A3D6E"/>
                </a:solidFill>
                <a:latin typeface="Geist Medium"/>
                <a:ea typeface="Noto Sans SC"/>
              </a:rPr>
              <a:t>轻松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9008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2A1E4A"/>
                </a:solidFill>
                <a:latin typeface="Instrument Serif"/>
                <a:ea typeface="Noto Sans SC"/>
              </a:rPr>
              <a:t>单实体过滤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52044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73989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4A3D6E"/>
                </a:solidFill>
                <a:latin typeface="Geist Mono Medium"/>
                <a:ea typeface="Noto Sans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72160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spc="-10">
                <a:solidFill>
                  <a:srgbClr val="2A1E4A"/>
                </a:solidFill>
                <a:latin typeface="Geist Medium"/>
                <a:ea typeface="Noto Sans SC"/>
              </a:rPr>
              <a:t>PRJ-001 下还有哪些工作没完成?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7398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A3D6E"/>
                </a:solidFill>
                <a:latin typeface="Geist Medium"/>
                <a:ea typeface="Noto Sans SC"/>
              </a:rPr>
              <a:t>要手动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703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2A1E4A"/>
                </a:solidFill>
                <a:latin typeface="Instrument Serif"/>
                <a:ea typeface="Noto Sans SC"/>
              </a:rPr>
              <a:t>关系遍历 · 1 跳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233672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4233672"/>
            <a:ext cx="11155680" cy="71323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45312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4A3D6E"/>
                </a:solidFill>
                <a:latin typeface="Geist Mono Medium"/>
                <a:ea typeface="Noto Sans S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43484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spc="-10">
                <a:solidFill>
                  <a:srgbClr val="2A1E4A"/>
                </a:solidFill>
                <a:latin typeface="Geist Medium"/>
                <a:ea typeface="Noto Sans SC"/>
              </a:rPr>
              <a:t>哪个资金池在支撑哪些项目、总预算多少?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45312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A3D6E"/>
                </a:solidFill>
                <a:latin typeface="Geist Medium"/>
                <a:ea typeface="Noto Sans SC"/>
              </a:rPr>
              <a:t>更难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4165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2A1E4A"/>
                </a:solidFill>
                <a:latin typeface="Instrument Serif"/>
                <a:ea typeface="Noto Sans SC"/>
              </a:rPr>
              <a:t>关系遍历 + 聚合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946904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4946904"/>
            <a:ext cx="11155680" cy="713232"/>
          </a:xfrm>
          <a:prstGeom prst="roundRect">
            <a:avLst>
              <a:gd name="adj" fmla="val 2000"/>
            </a:avLst>
          </a:prstGeom>
          <a:solidFill>
            <a:srgbClr val="2A1E4A"/>
          </a:solidFill>
          <a:ln>
            <a:noFill/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1663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F4F2EC"/>
                </a:solidFill>
                <a:latin typeface="Geist Mono Medium"/>
                <a:ea typeface="Noto Sans S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14807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spc="-10">
                <a:solidFill>
                  <a:srgbClr val="F4F2EC"/>
                </a:solidFill>
                <a:latin typeface="Geist Medium"/>
                <a:ea typeface="Noto Sans SC"/>
              </a:rPr>
              <a:t>每个资金池名下的总投入工时?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1663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4F2EC"/>
                </a:solidFill>
                <a:latin typeface="Geist Medium"/>
                <a:ea typeface="Noto Sans SC"/>
              </a:rPr>
              <a:t>几乎做不到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12978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F4F2EC"/>
                </a:solidFill>
                <a:latin typeface="Instrument Serif"/>
                <a:ea typeface="Noto Sans SC"/>
              </a:rPr>
              <a:t>跨域 2 跳 + 聚合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第 4 题是全场的分水岭 —— 它要走「资金池 → 项目 → 工作流」两跳再求和。开场演示直接问这一题。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PROBLEM →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01 · THE GAP TO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问题与解法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Not missing data. Missing meaning.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530352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0553E"/>
                </a:solidFill>
                <a:latin typeface="Geist Mono Medium"/>
                <a:ea typeface="Noto Sans SC"/>
              </a:rP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 spc="-20">
                <a:solidFill>
                  <a:srgbClr val="2A1E4A"/>
                </a:solidFill>
                <a:latin typeface="Geist Medium"/>
                <a:ea typeface="Noto Sans SC"/>
              </a:rPr>
              <a:t>关系没有被建模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4A3D6E"/>
                </a:solidFill>
                <a:latin typeface="Instrument Serif"/>
                <a:ea typeface="Noto Sans SC"/>
              </a:rPr>
              <a:t>the join lives in a person.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114800"/>
            <a:ext cx="365760" cy="20116"/>
          </a:xfrm>
          <a:prstGeom prst="rect">
            <a:avLst/>
          </a:prstGeom>
          <a:solidFill>
            <a:srgbClr val="B0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模型不理解我的业务</a:t>
            </a:r>
          </a:p>
          <a:p>
            <a:pPr algn="l">
              <a:lnSpc>
                <a:spcPct val="175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每接一个新系统就要改一遍智能体</a:t>
            </a:r>
          </a:p>
          <a:p>
            <a:pPr algn="l">
              <a:lnSpc>
                <a:spcPct val="175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模型会编造,答案不敢拿去开经营会</a:t>
            </a:r>
          </a:p>
          <a:p>
            <a:pPr algn="l">
              <a:lnSpc>
                <a:spcPct val="175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上线了但没人用 / 密钥满天飞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86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0" i="1">
                <a:solidFill>
                  <a:srgbClr val="2A1E4A"/>
                </a:solidFill>
                <a:latin typeface="Instrument Serif"/>
                <a:ea typeface="Noto Sans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86000"/>
            <a:ext cx="5303520" cy="3977639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2560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8B82A0"/>
                </a:solidFill>
                <a:latin typeface="Geist Mono Medium"/>
                <a:ea typeface="Noto Sans SC"/>
              </a:rP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71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 spc="-20">
                <a:solidFill>
                  <a:srgbClr val="F4F2EC"/>
                </a:solidFill>
                <a:latin typeface="Geist Medium"/>
                <a:ea typeface="Noto Sans SC"/>
              </a:rPr>
              <a:t>把理解建成一层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74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F4F2EC"/>
                </a:solidFill>
                <a:latin typeface="Instrument Serif"/>
                <a:ea typeface="Noto Sans SC"/>
              </a:rPr>
              <a:t>a semantic layer, then agents.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4114800"/>
            <a:ext cx="365760" cy="20116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43434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4F2EC"/>
                </a:solidFill>
                <a:latin typeface="Geist Medium"/>
                <a:ea typeface="Noto Sans SC"/>
              </a:rPr>
              <a:t>本体把关系显式建模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325112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spc="60">
                <a:solidFill>
                  <a:srgbClr val="F4F2EC"/>
                </a:solidFill>
                <a:latin typeface="Geist Mono Medium"/>
                <a:ea typeface="Noto Sans SC"/>
              </a:rPr>
              <a:t>Lab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8006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4F2EC"/>
                </a:solidFill>
                <a:latin typeface="Geist Medium"/>
                <a:ea typeface="Noto Sans SC"/>
              </a:rPr>
              <a:t>MCP 做标准接口,换后端不改智能体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782312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spc="60">
                <a:solidFill>
                  <a:srgbClr val="F4F2EC"/>
                </a:solidFill>
                <a:latin typeface="Geist Mono Medium"/>
                <a:ea typeface="Noto Sans SC"/>
              </a:rPr>
              <a:t>Lab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2578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4F2EC"/>
                </a:solidFill>
                <a:latin typeface="Geist Medium"/>
                <a:ea typeface="Noto Sans SC"/>
              </a:rPr>
              <a:t>grounded 作答 + 服务端算数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239512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spc="60">
                <a:solidFill>
                  <a:srgbClr val="F4F2EC"/>
                </a:solidFill>
                <a:latin typeface="Geist Mono Medium"/>
                <a:ea typeface="Noto Sans SC"/>
              </a:rPr>
              <a:t>Lab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7150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4F2EC"/>
                </a:solidFill>
                <a:latin typeface="Geist Medium"/>
                <a:ea typeface="Noto Sans SC"/>
              </a:rPr>
              <a:t>Copilot 入口 + 无密码身份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5696712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spc="60">
                <a:solidFill>
                  <a:srgbClr val="F4F2EC"/>
                </a:solidFill>
                <a:latin typeface="Geist Mono Medium"/>
                <a:ea typeface="Noto Sans SC"/>
              </a:rPr>
              <a:t>Lab 04-05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host-n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6858000" cy="512064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SECTION ·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09 /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320">
                <a:solidFill>
                  <a:srgbClr val="4A3D6E"/>
                </a:solidFill>
                <a:latin typeface="Geist Mono Medium"/>
                <a:ea typeface="Noto Sans SC"/>
              </a:rPr>
              <a:t>02 /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 spc="-30">
                <a:solidFill>
                  <a:srgbClr val="2A1E4A"/>
                </a:solidFill>
                <a:latin typeface="Geist Medium"/>
                <a:ea typeface="Noto Sans SC"/>
              </a:rPr>
              <a:t>设计的逻辑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400" b="0" i="1">
                <a:solidFill>
                  <a:srgbClr val="2A1E4A"/>
                </a:solidFill>
                <a:latin typeface="Instrument Serif"/>
                <a:ea typeface="Noto Sans SC"/>
              </a:rPr>
              <a:t>Why this shape.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DOMAIN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10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02 · DELIBERATELY 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业务模型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Three entities. Two relationships.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3108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8B82A0"/>
                </a:solidFill>
                <a:latin typeface="Geist Mono Medium"/>
                <a:ea typeface="Noto Sans SC"/>
              </a:rPr>
              <a:t>FundingPool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spc="-15">
                <a:solidFill>
                  <a:srgbClr val="2A1E4A"/>
                </a:solidFill>
                <a:latin typeface="Geist Medium"/>
                <a:ea typeface="Noto Sans SC"/>
              </a:rPr>
              <a:t>资金池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2900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1188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算力资本池 48.5M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研发运营基金 12.3M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175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0" i="1">
                <a:solidFill>
                  <a:srgbClr val="2A1E4A"/>
                </a:solidFill>
                <a:latin typeface="Instrument Serif"/>
                <a:ea typeface="Noto Sans S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204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8B82A0"/>
                </a:solidFill>
                <a:latin typeface="Geist Mono Medium"/>
                <a:ea typeface="Noto Sans SC"/>
              </a:rPr>
              <a:t>funds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8B82A0"/>
                </a:solidFill>
                <a:latin typeface="Geist Mono Medium"/>
                <a:ea typeface="Noto Sans SC"/>
              </a:rPr>
              <a:t>1 : 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286000"/>
            <a:ext cx="3108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5146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8B82A0"/>
                </a:solidFill>
                <a:latin typeface="Geist Mono Medium"/>
                <a:ea typeface="Noto Sans SC"/>
              </a:rPr>
              <a:t>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880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spc="-15">
                <a:solidFill>
                  <a:srgbClr val="2A1E4A"/>
                </a:solidFill>
                <a:latin typeface="Geist Medium"/>
                <a:ea typeface="Noto Sans SC"/>
              </a:rPr>
              <a:t>研发项目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342900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361188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前沿模型预训练 18M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推理平台扩容 7.5M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安全评估体系 2.4M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0175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0" i="1">
                <a:solidFill>
                  <a:srgbClr val="2A1E4A"/>
                </a:solidFill>
                <a:latin typeface="Instrument Serif"/>
                <a:ea typeface="Noto Sans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5204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8B82A0"/>
                </a:solidFill>
                <a:latin typeface="Geist Mono Medium"/>
                <a:ea typeface="Noto Sans SC"/>
              </a:rPr>
              <a:t>has_task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8B82A0"/>
                </a:solidFill>
                <a:latin typeface="Geist Mono Medium"/>
                <a:ea typeface="Noto Sans SC"/>
              </a:rPr>
              <a:t>1 : 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286000"/>
            <a:ext cx="3108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15400" y="25146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8B82A0"/>
                </a:solidFill>
                <a:latin typeface="Geist Mono Medium"/>
                <a:ea typeface="Noto Sans SC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880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spc="-15">
                <a:solidFill>
                  <a:srgbClr val="2A1E4A"/>
                </a:solidFill>
                <a:latin typeface="Geist Medium"/>
                <a:ea typeface="Noto Sans SC"/>
              </a:rPr>
              <a:t>工作流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342900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15400" y="361188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数据管道扩容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分布式训练上线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服务延迟优化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892040"/>
            <a:ext cx="11155680" cy="1143000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1023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20">
                <a:solidFill>
                  <a:srgbClr val="8B82A0"/>
                </a:solidFill>
                <a:latin typeface="Geist Mono Medium"/>
                <a:ea typeface="Noto Sans SC"/>
              </a:rPr>
              <a:t>LAB 01 · 动手点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1324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spc="-15">
                <a:solidFill>
                  <a:srgbClr val="F4F2EC"/>
                </a:solidFill>
                <a:latin typeface="Geist Medium"/>
                <a:ea typeface="Noto Sans SC"/>
              </a:rPr>
              <a:t>加一个 Team 实体 = 改 3 个声明式文件,</a:t>
            </a:r>
            <a:r>
              <a:rPr sz="2000" b="0" i="1">
                <a:solidFill>
                  <a:srgbClr val="F4F2EC"/>
                </a:solidFill>
                <a:latin typeface="Instrument Serif"/>
                <a:ea typeface="Noto Sans SC"/>
              </a:rPr>
              <a:t> zero lines of code.</a:t>
            </a:r>
            <a:r>
              <a:rPr sz="1500" b="0" i="0">
                <a:solidFill>
                  <a:srgbClr val="F4F2EC"/>
                </a:solidFill>
                <a:latin typeface="Geist Medium"/>
                <a:ea typeface="Noto Sans SC"/>
              </a:rPr>
              <a:t>   反向遍历自动生效。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DESIGN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02 · THE TECHNICAL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四个关键设计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Not what we used — why.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514600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51176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A1E4A"/>
                </a:solidFill>
                <a:latin typeface="Geist Medium"/>
                <a:ea typeface="Noto Sans SC"/>
              </a:rPr>
              <a:t>语义与物理分离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A3D6E"/>
                </a:solidFill>
                <a:latin typeface="Instrument Serif"/>
                <a:ea typeface="Noto Sans SC"/>
              </a:rPr>
              <a:t>Semantics vs. binding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572000"/>
            <a:ext cx="27432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965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4A3D6E"/>
                </a:solidFill>
                <a:latin typeface="Geist Medium"/>
                <a:ea typeface="Noto Sans SC"/>
              </a:rPr>
              <a:t>RDF 说「是什么、怎么连」,绑定说「数据在哪、用哪个键连」。换数据源不动本体。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24028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49040" y="2514600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40" y="2551176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154680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A1E4A"/>
                </a:solidFill>
                <a:latin typeface="Geist Medium"/>
                <a:ea typeface="Noto Sans SC"/>
              </a:rPr>
              <a:t>MCP 作为解耦点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114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A3D6E"/>
                </a:solidFill>
                <a:latin typeface="Instrument Serif"/>
                <a:ea typeface="Noto Sans SC"/>
              </a:rPr>
              <a:t>One interface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4572000"/>
            <a:ext cx="27432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49040" y="4754880"/>
            <a:ext cx="1965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4A3D6E"/>
                </a:solidFill>
                <a:latin typeface="Geist Medium"/>
                <a:ea typeface="Noto Sans SC"/>
              </a:rPr>
              <a:t>智能体不读数据文件,只调工具。后端从 JSON 换成 Fabric IQ,智能体侧一行不改。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24028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83680" y="2514600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551176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154680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A1E4A"/>
                </a:solidFill>
                <a:latin typeface="Geist Medium"/>
                <a:ea typeface="Noto Sans SC"/>
              </a:rPr>
              <a:t>让服务器算数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114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A3D6E"/>
                </a:solidFill>
                <a:latin typeface="Instrument Serif"/>
                <a:ea typeface="Noto Sans SC"/>
              </a:rPr>
              <a:t>Arithmetic in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572000"/>
            <a:ext cx="27432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754880"/>
            <a:ext cx="1965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4A3D6E"/>
                </a:solidFill>
                <a:latin typeface="Geist Medium"/>
                <a:ea typeface="Noto Sans SC"/>
              </a:rPr>
              <a:t>sum / avg / group by 在服务端完成。模型做算术是幻觉高发区,交给代码才敢用。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24028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418320" y="2514600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2551176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154680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A1E4A"/>
                </a:solidFill>
                <a:latin typeface="Geist Medium"/>
                <a:ea typeface="Noto Sans SC"/>
              </a:rPr>
              <a:t>沙箱推理,宿主给能力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114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A3D6E"/>
                </a:solidFill>
                <a:latin typeface="Instrument Serif"/>
                <a:ea typeface="Noto Sans SC"/>
              </a:rPr>
              <a:t>CodeAct boundary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4572000"/>
            <a:ext cx="27432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18320" y="4754880"/>
            <a:ext cx="1965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4A3D6E"/>
                </a:solidFill>
                <a:latin typeface="Geist Medium"/>
                <a:ea typeface="Noto Sans SC"/>
              </a:rPr>
              <a:t>沙箱装不了 matplotlib,所以绘图在宿主。模型能写代码,危险操作留在工具边界内。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PEDAGOGY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02 · HOW THE COURSE IS SHAPED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教学设计三原则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Why it lands.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8B82A0"/>
                </a:solidFill>
                <a:latin typeface="Geist Mono Medium"/>
                <a:ea typeface="Noto Sans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spc="-25">
                <a:solidFill>
                  <a:srgbClr val="2A1E4A"/>
                </a:solidFill>
                <a:latin typeface="Geist Medium"/>
                <a:ea typeface="Noto Sans SC"/>
              </a:rPr>
              <a:t>Reveal,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1">
                <a:solidFill>
                  <a:srgbClr val="4A3D6E"/>
                </a:solidFill>
                <a:latin typeface="Instrument Serif"/>
                <a:ea typeface="Noto Sans SC"/>
              </a:rPr>
              <a:t>then rebuild.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16052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倒叙开场:先演示成品制造好奇,再自底向上一层层还原。没有开场那个「哇」,后面所有内容都失去动机。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24028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8B82A0"/>
                </a:solidFill>
                <a:latin typeface="Geist Mono Medium"/>
                <a:ea typeface="Noto Sans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175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spc="-25">
                <a:solidFill>
                  <a:srgbClr val="2A1E4A"/>
                </a:solidFill>
                <a:latin typeface="Geist Medium"/>
                <a:ea typeface="Noto Sans SC"/>
              </a:rPr>
              <a:t>Break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4747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1">
                <a:solidFill>
                  <a:srgbClr val="4A3D6E"/>
                </a:solidFill>
                <a:latin typeface="Instrument Serif"/>
                <a:ea typeface="Noto Sans SC"/>
              </a:rPr>
              <a:t>on purpose.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16052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438912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Lab 03 让学员亲手删掉提示词里的交接契约,看系统开始间歇性画错 —— 亲眼看到失败,比讲一百遍都管用。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24028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8B82A0"/>
                </a:solidFill>
                <a:latin typeface="Geist Mono Medium"/>
                <a:ea typeface="Noto Sans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0175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spc="-25">
                <a:solidFill>
                  <a:srgbClr val="2A1E4A"/>
                </a:solidFill>
                <a:latin typeface="Geist Medium"/>
                <a:ea typeface="Noto Sans SC"/>
              </a:rPr>
              <a:t>Name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4747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1">
                <a:solidFill>
                  <a:srgbClr val="4A3D6E"/>
                </a:solidFill>
                <a:latin typeface="Instrument Serif"/>
                <a:ea typeface="Noto Sans SC"/>
              </a:rPr>
              <a:t>limits.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416052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438912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4A3D6E"/>
                </a:solidFill>
                <a:latin typeface="Geist Medium"/>
                <a:ea typeface="Noto Sans SC"/>
              </a:rPr>
              <a:t>坦白 11 行模拟数据、讲师预置基础设施等取舍。说清边界不削弱课程,反而让学员知道离生产还差什么。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host-n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6858000" cy="512064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SECTION ·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13 /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320">
                <a:solidFill>
                  <a:srgbClr val="4A3D6E"/>
                </a:solidFill>
                <a:latin typeface="Geist Mono Medium"/>
                <a:ea typeface="Noto Sans SC"/>
              </a:rPr>
              <a:t>03 /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 spc="-30">
                <a:solidFill>
                  <a:srgbClr val="2A1E4A"/>
                </a:solidFill>
                <a:latin typeface="Geist Medium"/>
                <a:ea typeface="Noto Sans SC"/>
              </a:rPr>
              <a:t>技术框架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400" b="0" i="1">
                <a:solidFill>
                  <a:srgbClr val="2A1E4A"/>
                </a:solidFill>
                <a:latin typeface="Instrument Serif"/>
                <a:ea typeface="Noto Sans SC"/>
              </a:rPr>
              <a:t>The stack.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FIVE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技术架构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Five layers, one request.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11155680" cy="694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4780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8B82A0"/>
                </a:solidFill>
                <a:latin typeface="Geist Mono Medium"/>
                <a:ea typeface="Noto Sans SC"/>
              </a:rPr>
              <a:t>L5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36829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spc="-15">
                <a:solidFill>
                  <a:srgbClr val="2A1E4A"/>
                </a:solidFill>
                <a:latin typeface="Geist Medium"/>
                <a:ea typeface="Noto Sans SC"/>
              </a:rPr>
              <a:t>接入层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6609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4780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Container Apps (nginx) · 静态站点 + 反向代理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08376"/>
            <a:ext cx="11155680" cy="694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2461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8B82A0"/>
                </a:solidFill>
                <a:latin typeface="Geist Mono Medium"/>
                <a:ea typeface="Noto Sans SC"/>
              </a:rPr>
              <a:t>L4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1363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spc="-15">
                <a:solidFill>
                  <a:srgbClr val="2A1E4A"/>
                </a:solidFill>
                <a:latin typeface="Geist Medium"/>
                <a:ea typeface="Noto Sans SC"/>
              </a:rPr>
              <a:t>智能体层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290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246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AKS · Agent Framework · Assistant → DataAnalyst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76472"/>
            <a:ext cx="11155680" cy="694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01421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8B82A0"/>
                </a:solidFill>
                <a:latin typeface="Geist Mono Medium"/>
                <a:ea typeface="Noto Sans SC"/>
              </a:rPr>
              <a:t>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9044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spc="-15">
                <a:solidFill>
                  <a:srgbClr val="2A1E4A"/>
                </a:solidFill>
                <a:latin typeface="Geist Medium"/>
                <a:ea typeface="Noto Sans SC"/>
              </a:rPr>
              <a:t>执行层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19709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1421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Monty CodeAct 沙箱会话池 · 每会话临时 Pod · 网络隔离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44568"/>
            <a:ext cx="11155680" cy="694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7823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8B82A0"/>
                </a:solidFill>
                <a:latin typeface="Geist Mono Medium"/>
                <a:ea typeface="Noto Sans SC"/>
              </a:rPr>
              <a:t>L2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67258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spc="-15">
                <a:solidFill>
                  <a:srgbClr val="2A1E4A"/>
                </a:solidFill>
                <a:latin typeface="Geist Medium"/>
                <a:ea typeface="Noto Sans SC"/>
              </a:rPr>
              <a:t>知识层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9651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78231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MCP Server · 7 个本体查询工具 · dataIQ RDF/OWL + 绑定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12664"/>
            <a:ext cx="11155680" cy="694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5504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8B82A0"/>
                </a:solidFill>
                <a:latin typeface="Geist Mono Medium"/>
                <a:ea typeface="Noto Sans SC"/>
              </a:rPr>
              <a:t>L1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4406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spc="-15">
                <a:solidFill>
                  <a:srgbClr val="2A1E4A"/>
                </a:solidFill>
                <a:latin typeface="Geist Medium"/>
                <a:ea typeface="Noto Sans SC"/>
              </a:rPr>
              <a:t>模型层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7332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55040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Azure AI Foundry ← Entra 工作负载身份 (无密码)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240280"/>
            <a:ext cx="22860" cy="376732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6199632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80">
                <a:solidFill>
                  <a:srgbClr val="8B82A0"/>
                </a:solidFill>
                <a:latin typeface="Geist Mono Medium"/>
                <a:ea typeface="Noto Sans SC"/>
              </a:rPr>
              <a:t>横切:ACR 镜像 · Log Analytics / Monitor · GitHub Actions CI-CD    ——    全程无密码,云端不保存任何 API 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REQUEST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ONE QUESTION, END TO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一次提问走完全程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Five hops.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640080" y="3703320"/>
            <a:ext cx="10927080" cy="0"/>
          </a:xfrm>
          <a:prstGeom prst="line">
            <a:avLst/>
          </a:prstGeom>
          <a:ln w="9525">
            <a:solidFill>
              <a:srgbClr val="C5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68196" y="3538728"/>
            <a:ext cx="329184" cy="329184"/>
          </a:xfrm>
          <a:prstGeom prst="ellipse">
            <a:avLst/>
          </a:prstGeom>
          <a:solidFill>
            <a:srgbClr val="F4F2EC"/>
          </a:solidFill>
          <a:ln w="12700">
            <a:solidFill>
              <a:srgbClr val="2A1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75588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2A1E4A"/>
                </a:solidFill>
                <a:latin typeface="Geist Mono Medium"/>
                <a:ea typeface="Noto Sans S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2002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提问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54680"/>
            <a:ext cx="20025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8B82A0"/>
                </a:solidFill>
                <a:latin typeface="Instrument Serif"/>
                <a:ea typeface="Noto Sans SC"/>
              </a:rPr>
              <a:t>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95681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浏览器 → HTTPS → Web 应用</a:t>
            </a:r>
          </a:p>
        </p:txBody>
      </p:sp>
      <p:sp>
        <p:nvSpPr>
          <p:cNvPr id="20" name="Oval 19"/>
          <p:cNvSpPr/>
          <p:nvPr/>
        </p:nvSpPr>
        <p:spPr>
          <a:xfrm>
            <a:off x="3753612" y="3538728"/>
            <a:ext cx="329184" cy="329184"/>
          </a:xfrm>
          <a:prstGeom prst="ellipse">
            <a:avLst/>
          </a:prstGeom>
          <a:solidFill>
            <a:srgbClr val="F4F2EC"/>
          </a:solidFill>
          <a:ln w="12700">
            <a:solidFill>
              <a:srgbClr val="2A1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61004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2A1E4A"/>
                </a:solidFill>
                <a:latin typeface="Geist Mono Medium"/>
                <a:ea typeface="Noto Sans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936" y="2743200"/>
            <a:ext cx="2002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6936" y="3154680"/>
            <a:ext cx="20025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8B82A0"/>
                </a:solidFill>
                <a:latin typeface="Instrument Serif"/>
                <a:ea typeface="Noto Sans SC"/>
              </a:rPr>
              <a:t>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36" y="4114800"/>
            <a:ext cx="195681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nginx 代理 /ask → AKS 智能体服务</a:t>
            </a:r>
          </a:p>
        </p:txBody>
      </p:sp>
      <p:sp>
        <p:nvSpPr>
          <p:cNvPr id="25" name="Oval 24"/>
          <p:cNvSpPr/>
          <p:nvPr/>
        </p:nvSpPr>
        <p:spPr>
          <a:xfrm>
            <a:off x="5939028" y="3538728"/>
            <a:ext cx="329184" cy="329184"/>
          </a:xfrm>
          <a:prstGeom prst="ellipse">
            <a:avLst/>
          </a:prstGeom>
          <a:solidFill>
            <a:srgbClr val="F4F2EC"/>
          </a:solidFill>
          <a:ln w="12700">
            <a:solidFill>
              <a:srgbClr val="2A1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46420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2A1E4A"/>
                </a:solidFill>
                <a:latin typeface="Geist Mono Medium"/>
                <a:ea typeface="Noto Sans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743200"/>
            <a:ext cx="2002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理解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154680"/>
            <a:ext cx="20025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8B82A0"/>
                </a:solidFill>
                <a:latin typeface="Instrument Serif"/>
                <a:ea typeface="Noto Sans SC"/>
              </a:rPr>
              <a:t>Ground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114800"/>
            <a:ext cx="195681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AssistantAgent 经 MCP 查本体与关系,取回事实</a:t>
            </a:r>
          </a:p>
        </p:txBody>
      </p:sp>
      <p:sp>
        <p:nvSpPr>
          <p:cNvPr id="30" name="Oval 29"/>
          <p:cNvSpPr/>
          <p:nvPr/>
        </p:nvSpPr>
        <p:spPr>
          <a:xfrm>
            <a:off x="8124444" y="3538728"/>
            <a:ext cx="329184" cy="329184"/>
          </a:xfrm>
          <a:prstGeom prst="ellipse">
            <a:avLst/>
          </a:prstGeom>
          <a:solidFill>
            <a:srgbClr val="F4F2EC"/>
          </a:solidFill>
          <a:ln w="12700">
            <a:solidFill>
              <a:srgbClr val="2A1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31836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2A1E4A"/>
                </a:solidFill>
                <a:latin typeface="Geist Mono Medium"/>
                <a:ea typeface="Noto Sans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2743200"/>
            <a:ext cx="2002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8" y="3154680"/>
            <a:ext cx="20025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8B82A0"/>
                </a:solidFill>
                <a:latin typeface="Instrument Serif"/>
                <a:ea typeface="Noto Sans SC"/>
              </a:rP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4114800"/>
            <a:ext cx="195681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DataAnalystAgent 在沙箱写 Python,调宿主工具出图</a:t>
            </a:r>
          </a:p>
        </p:txBody>
      </p:sp>
      <p:sp>
        <p:nvSpPr>
          <p:cNvPr id="35" name="Oval 34"/>
          <p:cNvSpPr/>
          <p:nvPr/>
        </p:nvSpPr>
        <p:spPr>
          <a:xfrm>
            <a:off x="10309860" y="3538728"/>
            <a:ext cx="329184" cy="329184"/>
          </a:xfrm>
          <a:prstGeom prst="ellipse">
            <a:avLst/>
          </a:prstGeom>
          <a:solidFill>
            <a:srgbClr val="F4F2EC"/>
          </a:solidFill>
          <a:ln w="12700">
            <a:solidFill>
              <a:srgbClr val="2A1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17252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2A1E4A"/>
                </a:solidFill>
                <a:latin typeface="Geist Mono Medium"/>
                <a:ea typeface="Noto Sans S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2743200"/>
            <a:ext cx="2002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15">
                <a:solidFill>
                  <a:srgbClr val="2A1E4A"/>
                </a:solidFill>
                <a:latin typeface="Geist Medium"/>
                <a:ea typeface="Noto Sans SC"/>
              </a:rPr>
              <a:t>作答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3154680"/>
            <a:ext cx="20025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8B82A0"/>
                </a:solidFill>
                <a:latin typeface="Instrument Serif"/>
                <a:ea typeface="Noto Sans SC"/>
              </a:rPr>
              <a:t>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3184" y="4114800"/>
            <a:ext cx="195681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答案 + 图表回传,浏览器直接渲染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86400"/>
            <a:ext cx="11155680" cy="658368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6509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4F2EC"/>
                </a:solidFill>
                <a:latin typeface="Geist Medium"/>
                <a:ea typeface="Noto Sans SC"/>
              </a:rPr>
              <a:t>答案里的每个数字都来自 MCP 工具的服务端聚合 —— </a:t>
            </a:r>
            <a:r>
              <a:rPr sz="1600" b="0" i="1">
                <a:solidFill>
                  <a:srgbClr val="F4F2EC"/>
                </a:solidFill>
                <a:latin typeface="Instrument Serif"/>
                <a:ea typeface="Noto Sans SC"/>
              </a:rPr>
              <a:t>the model never does the arithmetic.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MICROSOFT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TECHNOLOGY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微软技术地图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What plays what.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12848"/>
            <a:ext cx="111556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3172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331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微软技术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3172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在本课扮演什么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9568" y="23317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出现在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70048"/>
            <a:ext cx="11155680" cy="30175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7340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27203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Microsoft Fabric IQ 本体概念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73405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让系统读得懂业务关系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9568" y="27111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97180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303580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30220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MCP (Model Context Protocol)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303580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智能体与知识层的标准接口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30129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73552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273552"/>
            <a:ext cx="11155680" cy="30175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33375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开发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32384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GitHub 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8" y="33375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智能施工伙伴,当场写出新工具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33147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575304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9808" y="36393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编排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62559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Microsoft Agent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363931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SequentialBuilder 串起双智能体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8" y="36164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877056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3877056"/>
            <a:ext cx="11155680" cy="30175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394106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推理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39273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Azure AI Foundry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7568" y="394106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提供模型能力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9568" y="39182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178808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49808" y="4242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执行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42291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Monty CodeAct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87568" y="424281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沙箱化代码执行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9568" y="42199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48056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4480560"/>
            <a:ext cx="11155680" cy="30175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8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应用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55648" y="45308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FastAPI + Container Apps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87568" y="454456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对外的 Copilot 入口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59568" y="45217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48640" y="4782312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49808" y="48463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通知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5648" y="483260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Azure Communication Services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87568" y="48463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把结论发给干系人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59568" y="48234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04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48640" y="5084064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48640" y="5084064"/>
            <a:ext cx="11155680" cy="30175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9808" y="514807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运行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55648" y="51343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Azure Kubernetes Service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87568" y="514807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规模化承载智能体工作负载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59568" y="51252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05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385816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49808" y="544982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身份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55648" y="54361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Entra ID 工作负载身份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87568" y="544982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无密码调用模型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59568" y="54269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48640" y="5687568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48640" y="5687568"/>
            <a:ext cx="11155680" cy="301752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49808" y="57515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运维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57378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spc="-10">
                <a:solidFill>
                  <a:srgbClr val="2A1E4A"/>
                </a:solidFill>
                <a:latin typeface="Geist Medium"/>
                <a:ea typeface="Noto Sans SC"/>
              </a:rPr>
              <a:t>ACR · Log Analytics · Monitor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87568" y="575157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A3D6E"/>
                </a:solidFill>
                <a:latin typeface="Geist Medium"/>
                <a:ea typeface="Noto Sans SC"/>
              </a:rPr>
              <a:t>镜像分发与可观测性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59568" y="57287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2A1E4A"/>
                </a:solidFill>
                <a:latin typeface="Instrument Serif"/>
                <a:ea typeface="Noto Sans SC"/>
              </a:rPr>
              <a:t>Lab 05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48640" y="598932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548640" y="2212848"/>
            <a:ext cx="11155680" cy="3776472"/>
          </a:xfrm>
          <a:prstGeom prst="roundRect">
            <a:avLst>
              <a:gd name="adj" fmla="val 1000"/>
            </a:avLst>
          </a:prstGeom>
          <a:noFill/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80">
                <a:solidFill>
                  <a:srgbClr val="8B82A0"/>
                </a:solidFill>
                <a:latin typeface="Geist Mono Medium"/>
                <a:ea typeface="Noto Sans SC"/>
              </a:rPr>
              <a:t>Fabric IQ 让系统读得懂 · Foundry 让智能体想得通 · GitHub Copilot 陪你搭起来 · AKS 让它跑得动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2520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FABRIC 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WHY AN ONTOLOGY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Fabric IQ 是什么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  The layer above the tables.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7432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12848"/>
            <a:ext cx="111556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3957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2A1E4A"/>
                </a:solidFill>
                <a:latin typeface="Geist Medium"/>
                <a:ea typeface="Noto Sans SC"/>
              </a:rPr>
              <a:t>OneLake 把企业数据放到一起,</a:t>
            </a:r>
            <a:r>
              <a:rPr sz="1450" b="1" i="0">
                <a:solidFill>
                  <a:srgbClr val="2A1E4A"/>
                </a:solidFill>
                <a:latin typeface="Geist Medium"/>
                <a:ea typeface="Noto Sans SC"/>
              </a:rPr>
              <a:t>Fabric IQ 再往上盖一层</a:t>
            </a:r>
            <a:r>
              <a:rPr sz="1450" b="0" i="0">
                <a:solidFill>
                  <a:srgbClr val="2A1E4A"/>
                </a:solidFill>
                <a:latin typeface="Geist Medium"/>
                <a:ea typeface="Noto Sans SC"/>
              </a:rPr>
              <a:t> —— 让数据说业务的语言:实体、关系、属性、规则。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6148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60">
                <a:solidFill>
                  <a:srgbClr val="8B82A0"/>
                </a:solidFill>
                <a:latin typeface="Geist Mono Medium"/>
                <a:ea typeface="Noto Sans SC"/>
              </a:rPr>
              <a:t>Ignite 2025 发布 · Ontology 目前为预览版 · 同一工作负载里还有 Graph、Data agent、Operations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46120"/>
            <a:ext cx="356616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74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01 / UNIFIED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OneLake 统一数据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One copy, governed.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507992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湖仓、实时流、经快捷方式接入的外部源,不搬数据也不建 ETL。一份数据同时供 Fabric、Foundry、Copilot 使用。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246120"/>
            <a:ext cx="356616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02 / BUSINESS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673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Power BI 语义模型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6052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Trusted KPIs.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507992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46451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度量、层级、维度沿用生产里已经在跑的口径。本体可由语义模型直接生成,业务口径不分叉。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246120"/>
            <a:ext cx="356616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3474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03 / OPERATIONAL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7673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Ontology 本体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16052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Concepts that connect.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4507992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46451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声明实体、关系、属性,以及可被调用的规则与动作。Graph 负责遍历,智能体据此做跨域推理。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23560"/>
            <a:ext cx="11155680" cy="658368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815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4F2EC"/>
                </a:solidFill>
                <a:latin typeface="Geist Medium"/>
                <a:ea typeface="Noto Sans SC"/>
              </a:rPr>
              <a:t>没有这一层,模型只看得见表和字段;有了它,才能沿着 </a:t>
            </a:r>
            <a:r>
              <a:rPr sz="1300" b="0" i="0">
                <a:solidFill>
                  <a:srgbClr val="F4F2EC"/>
                </a:solidFill>
                <a:latin typeface="Geist Mono Medium"/>
                <a:ea typeface="Noto Sans SC"/>
              </a:rPr>
              <a:t>资金池 → 项目 → 工作流</a:t>
            </a:r>
            <a:r>
              <a:rPr sz="1400" b="0" i="0">
                <a:solidFill>
                  <a:srgbClr val="F4F2EC"/>
                </a:solidFill>
                <a:latin typeface="Geist Medium"/>
                <a:ea typeface="Noto Sans SC"/>
              </a:rPr>
              <a:t> 一路走下去。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2520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ONTOLOGY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FROM THIS REPO TO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本体的四个概念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  Same four, in this repo.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7432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12848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3172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Fabric IQ 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317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本课实现 · dataIQ 目录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31720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spc="80">
                <a:solidFill>
                  <a:srgbClr val="4A3D6E"/>
                </a:solidFill>
                <a:latin typeface="Geist Medium"/>
                <a:ea typeface="Noto Sans SC"/>
              </a:rPr>
              <a:t>生产环境 · Fabric IQ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0048"/>
            <a:ext cx="11155680" cy="749808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81635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-10">
                <a:solidFill>
                  <a:srgbClr val="2A1E4A"/>
                </a:solidFill>
                <a:latin typeface="Geist Medium"/>
                <a:ea typeface="Noto Sans SC"/>
              </a:rPr>
              <a:t>实体类型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118104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ENTITY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8254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frontier.rdf 里的 owl:Class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1089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FundingPool · Project ·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82549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Ontology 项里的实体类型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10896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可由已有的 Power BI 语义模型生成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419856"/>
            <a:ext cx="11155680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356616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-10">
                <a:solidFill>
                  <a:srgbClr val="2A1E4A"/>
                </a:solidFill>
                <a:latin typeface="Geist Medium"/>
                <a:ea typeface="Noto Sans SC"/>
              </a:rPr>
              <a:t>属性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86791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PROPERTY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57530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owl:DatatypeProperty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8587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带 isIdentifier / unit / propertyType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57530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属性与标识键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85876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可附数据类型约束与业务规则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69663"/>
            <a:ext cx="11155680" cy="749808"/>
          </a:xfrm>
          <a:prstGeom prst="rect">
            <a:avLst/>
          </a:prstGeom>
          <a:solidFill>
            <a:srgbClr val="F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31596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-10">
                <a:solidFill>
                  <a:srgbClr val="2A1E4A"/>
                </a:solidFill>
                <a:latin typeface="Geist Medium"/>
                <a:ea typeface="Noto Sans SC"/>
              </a:rPr>
              <a:t>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61772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RELATIONSHIP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3251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owl:ObjectProperty,带 cardinality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60857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funds 1:N · has_task 1:N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325112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关系 + Graph 遍历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60857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支撑影响链分析,双向可走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919472"/>
            <a:ext cx="11155680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9808" y="5065776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-10">
                <a:solidFill>
                  <a:srgbClr val="2A1E4A"/>
                </a:solidFill>
                <a:latin typeface="Geist Medium"/>
                <a:ea typeface="Noto Sans SC"/>
              </a:rPr>
              <a:t>数据绑定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3675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8B82A0"/>
                </a:solidFill>
                <a:latin typeface="Geist Mono Medium"/>
                <a:ea typeface="Noto Sans SC"/>
              </a:rPr>
              <a:t>DATA BINDING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5074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data-bindings.json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35838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实体 → 本地 JSON,关系 → 外键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07492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A1E4A"/>
                </a:solidFill>
                <a:latin typeface="Geist Medium"/>
                <a:ea typeface="Noto Sans SC"/>
              </a:rPr>
              <a:t>绑定到 OneLake 数据源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35838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40">
                <a:solidFill>
                  <a:srgbClr val="8B82A0"/>
                </a:solidFill>
                <a:latin typeface="Geist Mono Medium"/>
                <a:ea typeface="Noto Sans SC"/>
              </a:rPr>
              <a:t>湖仓表 / Eventhouse 流 / 语义模型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669280"/>
            <a:ext cx="11155680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48640" y="2212848"/>
            <a:ext cx="11155680" cy="3456432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48640" y="5788152"/>
            <a:ext cx="11155680" cy="603504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595274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F4F2EC"/>
                </a:solidFill>
                <a:latin typeface="Geist Medium"/>
                <a:ea typeface="Noto Sans SC"/>
              </a:rPr>
              <a:t>迁移只改一处:绑定里的 </a:t>
            </a:r>
            <a:r>
              <a:rPr sz="1250" b="0" i="0">
                <a:solidFill>
                  <a:srgbClr val="F4F2EC"/>
                </a:solidFill>
                <a:latin typeface="Geist Mono Medium"/>
                <a:ea typeface="Noto Sans SC"/>
              </a:rPr>
              <a:t>source.path</a:t>
            </a:r>
            <a:r>
              <a:rPr sz="1350" b="0" i="0">
                <a:solidFill>
                  <a:srgbClr val="F4F2EC"/>
                </a:solidFill>
                <a:latin typeface="Geist Medium"/>
                <a:ea typeface="Noto Sans SC"/>
              </a:rPr>
              <a:t> 从本地 JSON 指向 OneLake 表。MCP 工具签名不变,智能体一行不改。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952744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1">
                <a:solidFill>
                  <a:srgbClr val="F4F2EC"/>
                </a:solidFill>
                <a:latin typeface="Instrument Serif"/>
                <a:ea typeface="Noto Sans SC"/>
              </a:rPr>
              <a:t>Lab 01 · Lab 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2520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GITHUB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19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YOUR BUILD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GitHub Copilot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  Three ways in, one habit.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7432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26151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487168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23744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1883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spc="-15">
                <a:solidFill>
                  <a:srgbClr val="2A1E4A"/>
                </a:solidFill>
                <a:latin typeface="Geist Medium"/>
                <a:ea typeface="Noto Sans SC"/>
              </a:rPr>
              <a:t>代码补全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3D6E"/>
                </a:solidFill>
                <a:latin typeface="Instrument Serif"/>
                <a:ea typeface="Noto Sans SC"/>
              </a:rPr>
              <a:t>Inline completion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95344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190195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顺着上下文续写。改 server.py 时最省时间的一档,但它并不知道你的业务约束。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2424" y="2240280"/>
            <a:ext cx="26151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58184" y="2487168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58184" y="2523744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8184" y="3108960"/>
            <a:ext cx="1883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spc="-15">
                <a:solidFill>
                  <a:srgbClr val="2A1E4A"/>
                </a:solidFill>
                <a:latin typeface="Geist Medium"/>
                <a:ea typeface="Noto Sans SC"/>
              </a:rPr>
              <a:t>对话问答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8184" y="352044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3D6E"/>
                </a:solidFill>
                <a:latin typeface="Instrument Serif"/>
                <a:ea typeface="Noto Sans SC"/>
              </a:rPr>
              <a:t>Chat · 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8184" y="3895344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58184" y="4041648"/>
            <a:ext cx="190195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选中一段代码问「这在干什么」。Lab 里用它读懂 resolve_entity 的大小写容错逻辑。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2240280"/>
            <a:ext cx="26151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01968" y="2487168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2523744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108960"/>
            <a:ext cx="1883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spc="-15">
                <a:solidFill>
                  <a:srgbClr val="2A1E4A"/>
                </a:solidFill>
                <a:latin typeface="Geist Medium"/>
                <a:ea typeface="Noto Sans SC"/>
              </a:rPr>
              <a:t>代理模式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52044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3D6E"/>
                </a:solidFill>
                <a:latin typeface="Instrument Serif"/>
                <a:ea typeface="Noto Sans SC"/>
              </a:rPr>
              <a:t>Agent mode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3895344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4041648"/>
            <a:ext cx="190195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自主读写多文件、跑终端,并调用已注册的 MCP 工具。Lab 02 用的就是这一档。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9992" y="2240280"/>
            <a:ext cx="26151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445752" y="2487168"/>
            <a:ext cx="420624" cy="420624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5B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45752" y="2523744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A1E4A"/>
                </a:solidFill>
                <a:latin typeface="Geist Mono Medium"/>
                <a:ea typeface="Noto Sans SC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3108960"/>
            <a:ext cx="1883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spc="-15">
                <a:solidFill>
                  <a:srgbClr val="2A1E4A"/>
                </a:solidFill>
                <a:latin typeface="Geist Medium"/>
                <a:ea typeface="Noto Sans SC"/>
              </a:rPr>
              <a:t>项目规矩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5752" y="352044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3D6E"/>
                </a:solidFill>
                <a:latin typeface="Instrument Serif"/>
                <a:ea typeface="Noto Sans SC"/>
              </a:rPr>
              <a:t>Custom instructions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5752" y="3895344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45752" y="4041648"/>
            <a:ext cx="190195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3D6E"/>
                </a:solidFill>
                <a:latin typeface="Geist Medium"/>
                <a:ea typeface="Noto Sans SC"/>
              </a:rPr>
              <a:t>.github/copilot-instructions.md 全局生效;*.instructions.md 用 applyTo 按文件类型生效。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486400"/>
            <a:ext cx="11155680" cy="621792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66013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4F2EC"/>
                </a:solidFill>
                <a:latin typeface="Geist Medium"/>
                <a:ea typeface="Noto Sans SC"/>
              </a:rPr>
              <a:t>本课把 Copilot 当两样东西用:</a:t>
            </a:r>
            <a:r>
              <a:rPr sz="1400" b="1" i="0">
                <a:solidFill>
                  <a:srgbClr val="F4F2EC"/>
                </a:solidFill>
                <a:latin typeface="Geist Medium"/>
                <a:ea typeface="Noto Sans SC"/>
              </a:rPr>
              <a:t>第一个 MCP 客户端</a:t>
            </a:r>
            <a:r>
              <a:rPr sz="1400" b="0" i="0">
                <a:solidFill>
                  <a:srgbClr val="F4F2EC"/>
                </a:solidFill>
                <a:latin typeface="Geist Medium"/>
                <a:ea typeface="Noto Sans SC"/>
              </a:rPr>
              <a:t> · </a:t>
            </a:r>
            <a:r>
              <a:rPr sz="1400" b="1" i="0">
                <a:solidFill>
                  <a:srgbClr val="F4F2EC"/>
                </a:solidFill>
                <a:latin typeface="Geist Medium"/>
                <a:ea typeface="Noto Sans SC"/>
              </a:rPr>
              <a:t>一个会写工具的施工伙伴</a:t>
            </a:r>
            <a:r>
              <a:rPr sz="1400" b="0" i="0">
                <a:solidFill>
                  <a:srgbClr val="F4F2EC"/>
                </a:solidFill>
                <a:latin typeface="Geist Medium"/>
                <a:ea typeface="Noto Sans SC"/>
              </a:rPr>
              <a:t>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60">
                <a:solidFill>
                  <a:srgbClr val="8B82A0"/>
                </a:solidFill>
                <a:latin typeface="Geist Mono Medium"/>
                <a:ea typeface="Noto Sans SC"/>
              </a:rPr>
              <a:t>Agent 模式与 MCP 支持已内置于 VS Code 的 Copilot Chat · 模型可在 GPT / Claude / Gemini 之间切换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2520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GITHUB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20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COPILOT IN LAB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两个角色,一个动手点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  Speed from it, edges from you.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7432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5440680" cy="3538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20">
                <a:solidFill>
                  <a:srgbClr val="8B82A0"/>
                </a:solidFill>
                <a:latin typeface="Geist Mono Medium"/>
                <a:ea typeface="Noto Sans SC"/>
              </a:rPr>
              <a:t>ROLE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6148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20">
                <a:solidFill>
                  <a:srgbClr val="2A1E4A"/>
                </a:solidFill>
                <a:latin typeface="Geist Medium"/>
                <a:ea typeface="Noto Sans SC"/>
              </a:rPr>
              <a:t>MCP 客户端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3D6E"/>
                </a:solidFill>
                <a:latin typeface="Instrument Serif"/>
                <a:ea typeface="Noto Sans SC"/>
              </a:rPr>
              <a:t>It calls your tools.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602736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40">
                <a:solidFill>
                  <a:srgbClr val="8B82A0"/>
                </a:solidFill>
                <a:latin typeface="Geist Mono Medium"/>
                <a:ea typeface="Noto Sans SC"/>
              </a:rPr>
              <a:t>01  注册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721607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A3D6E"/>
                </a:solidFill>
                <a:latin typeface="Geist Medium"/>
                <a:ea typeface="Noto Sans SC"/>
              </a:rPr>
              <a:t>在 .vscode/mcp.json 里声明 frontier-ontology。注意 VS Code 的顶层键是 servers。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7024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40">
                <a:solidFill>
                  <a:srgbClr val="8B82A0"/>
                </a:solidFill>
                <a:latin typeface="Geist Mono Medium"/>
                <a:ea typeface="Noto Sans SC"/>
              </a:rPr>
              <a:t>02  提问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42816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A3D6E"/>
                </a:solidFill>
                <a:latin typeface="Geist Medium"/>
                <a:ea typeface="Noto Sans SC"/>
              </a:rPr>
              <a:t>切到 Agent 模式:「哪个资金池在支撑哪些项目、总预算多少?」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9145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40">
                <a:solidFill>
                  <a:srgbClr val="8B82A0"/>
                </a:solidFill>
                <a:latin typeface="Geist Mono Medium"/>
                <a:ea typeface="Noto Sans SC"/>
              </a:rPr>
              <a:t>03  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764024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A3D6E"/>
                </a:solidFill>
                <a:latin typeface="Geist Medium"/>
                <a:ea typeface="Noto Sans SC"/>
              </a:rPr>
              <a:t>模型自己决定先调 get_related 再调 aggregate,答案有据可查。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5358384"/>
            <a:ext cx="4709159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468112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A1E4A"/>
                </a:solidFill>
                <a:latin typeface="Geist Mono Medium"/>
                <a:ea typeface="Noto Sans SC"/>
              </a:rPr>
              <a:t>→  </a:t>
            </a:r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还没写任何智能体,本体已经能被任意 MCP 客户端使用。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240280"/>
            <a:ext cx="5440680" cy="3538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248716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20">
                <a:solidFill>
                  <a:srgbClr val="8B82A0"/>
                </a:solidFill>
                <a:latin typeface="Geist Mono Medium"/>
                <a:ea typeface="Noto Sans SC"/>
              </a:rPr>
              <a:t>ROLE 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76148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spc="-20">
                <a:solidFill>
                  <a:srgbClr val="2A1E4A"/>
                </a:solidFill>
                <a:latin typeface="Geist Medium"/>
                <a:ea typeface="Noto Sans SC"/>
              </a:rPr>
              <a:t>施工伙伴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218688"/>
            <a:ext cx="4709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A3D6E"/>
                </a:solidFill>
                <a:latin typeface="Instrument Serif"/>
                <a:ea typeface="Noto Sans SC"/>
              </a:rPr>
              <a:t>It writes the next tool.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3602736"/>
            <a:ext cx="274320" cy="18288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74903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40">
                <a:solidFill>
                  <a:srgbClr val="8B82A0"/>
                </a:solidFill>
                <a:latin typeface="Geist Mono Medium"/>
                <a:ea typeface="Noto Sans SC"/>
              </a:rPr>
              <a:t>01  委托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721607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A3D6E"/>
                </a:solidFill>
                <a:latin typeface="Geist Medium"/>
                <a:ea typeface="Noto Sans SC"/>
              </a:rPr>
              <a:t>参照 aggregate 的风格,新增 top_n(entity_type, value_field, n, descending)。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7024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40">
                <a:solidFill>
                  <a:srgbClr val="8B82A0"/>
                </a:solidFill>
                <a:latin typeface="Geist Mono Medium"/>
                <a:ea typeface="Noto Sans SC"/>
              </a:rPr>
              <a:t>02  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4242816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A3D6E"/>
                </a:solidFill>
                <a:latin typeface="Geist Medium"/>
                <a:ea typeface="Noto Sans SC"/>
              </a:rPr>
              <a:t>三条必查:resolve_entity 容错 · 未知实体返回 error 字典 · 过滤非数字字段。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79145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40">
                <a:solidFill>
                  <a:srgbClr val="8B82A0"/>
                </a:solidFill>
                <a:latin typeface="Geist Mono Medium"/>
                <a:ea typeface="Noto Sans SC"/>
              </a:rPr>
              <a:t>03  重启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4764024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A3D6E"/>
                </a:solidFill>
                <a:latin typeface="Geist Medium"/>
                <a:ea typeface="Noto Sans SC"/>
              </a:rPr>
              <a:t>改完 server.py 必须重启 MCP 服务器 —— 工具清单只在连接时取一次。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629400" y="5358384"/>
            <a:ext cx="4709160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29400" y="5468112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A1E4A"/>
                </a:solidFill>
                <a:latin typeface="Geist Mono Medium"/>
                <a:ea typeface="Noto Sans SC"/>
              </a:rPr>
              <a:t>→  </a:t>
            </a:r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Copilot 负责速度,你负责边界条件。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97880"/>
            <a:ext cx="11155680" cy="530352"/>
          </a:xfrm>
          <a:prstGeom prst="roundRect">
            <a:avLst>
              <a:gd name="adj" fmla="val 3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602589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4F2EC"/>
                </a:solidFill>
                <a:latin typeface="Geist Medium"/>
                <a:ea typeface="Noto Sans SC"/>
              </a:rPr>
              <a:t>加工具 = 加能力。</a:t>
            </a:r>
            <a:r>
              <a:rPr sz="1350" b="0" i="0">
                <a:solidFill>
                  <a:srgbClr val="F4F2EC"/>
                </a:solidFill>
                <a:latin typeface="Geist Medium"/>
                <a:ea typeface="Noto Sans SC"/>
              </a:rPr>
              <a:t>你给智能体扩了一项新本事,却没有碰任何智能体代码。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8AC3-15C6-6FF4-FFD1-ACF10CD8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>
            <a:extLst>
              <a:ext uri="{FF2B5EF4-FFF2-40B4-BE49-F238E27FC236}">
                <a16:creationId xmlns:a16="http://schemas.microsoft.com/office/drawing/2014/main" id="{2CDB99AF-FBCE-BA40-1B54-A4EA0099D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>
            <a:extLst>
              <a:ext uri="{FF2B5EF4-FFF2-40B4-BE49-F238E27FC236}">
                <a16:creationId xmlns:a16="http://schemas.microsoft.com/office/drawing/2014/main" id="{F686756C-7185-F555-C68C-C04A4DC05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517839-FEE5-E03C-6BD3-1AB18AB6E826}"/>
              </a:ext>
            </a:extLst>
          </p:cNvPr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31233-2038-F78A-4553-9D35AC71DB57}"/>
              </a:ext>
            </a:extLst>
          </p:cNvPr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8A4922C-C782-A4AF-4A99-E837491A529F}"/>
              </a:ext>
            </a:extLst>
          </p:cNvPr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>
            <a:extLst>
              <a:ext uri="{FF2B5EF4-FFF2-40B4-BE49-F238E27FC236}">
                <a16:creationId xmlns:a16="http://schemas.microsoft.com/office/drawing/2014/main" id="{F0C04642-10B5-FB46-19D8-65D41074B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30A455-B250-FB2F-9B1C-9AA3844CAB9E}"/>
              </a:ext>
            </a:extLst>
          </p:cNvPr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A814E-5720-F85D-1009-8DB2C0B6B5A5}"/>
              </a:ext>
            </a:extLst>
          </p:cNvPr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MICROSOFT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8C2FC-E8A6-57D6-CD11-935A3E2B9A88}"/>
              </a:ext>
            </a:extLst>
          </p:cNvPr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21 / 29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5236A-8A10-D2F5-6996-BF7DDEB28AE6}"/>
              </a:ext>
            </a:extLst>
          </p:cNvPr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TECHNOLOGY MAPPING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08691-35FA-4A9D-C083-5EC0C0497D94}"/>
              </a:ext>
            </a:extLst>
          </p:cNvPr>
          <p:cNvSpPr txBox="1"/>
          <p:nvPr/>
        </p:nvSpPr>
        <p:spPr>
          <a:xfrm>
            <a:off x="548640" y="1188720"/>
            <a:ext cx="109728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3300" b="0" i="1" dirty="0">
                <a:solidFill>
                  <a:srgbClr val="4A3D6E"/>
                </a:solidFill>
                <a:latin typeface="Instrument Serif"/>
                <a:ea typeface="Noto Sans SC"/>
              </a:rPr>
              <a:t>架构</a:t>
            </a:r>
            <a:endParaRPr sz="3300" b="0" i="1" dirty="0">
              <a:solidFill>
                <a:srgbClr val="4A3D6E"/>
              </a:solidFill>
              <a:latin typeface="Instrument Serif"/>
              <a:ea typeface="Noto Sans SC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3D4D58-4C07-D10B-DCAF-3BB6CF4EA756}"/>
              </a:ext>
            </a:extLst>
          </p:cNvPr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5F1A2AE-0EC9-BBA8-ACF5-7F4D711F1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00" y="-297537"/>
            <a:ext cx="9956775" cy="717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64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2A3C-C3A6-DD5C-4D97-FA2E72FC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>
            <a:extLst>
              <a:ext uri="{FF2B5EF4-FFF2-40B4-BE49-F238E27FC236}">
                <a16:creationId xmlns:a16="http://schemas.microsoft.com/office/drawing/2014/main" id="{0C48A5F5-A978-66E0-9F1A-778162E03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>
            <a:extLst>
              <a:ext uri="{FF2B5EF4-FFF2-40B4-BE49-F238E27FC236}">
                <a16:creationId xmlns:a16="http://schemas.microsoft.com/office/drawing/2014/main" id="{35A44D23-DC09-5D89-B70F-111860CF6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8A5E0-32EC-542A-58C1-86F1E44C2535}"/>
              </a:ext>
            </a:extLst>
          </p:cNvPr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E769F-D75F-9314-DBC7-48722B14C33F}"/>
              </a:ext>
            </a:extLst>
          </p:cNvPr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67639DF-3A6D-39C3-7223-D558C6B5CA4D}"/>
              </a:ext>
            </a:extLst>
          </p:cNvPr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>
            <a:extLst>
              <a:ext uri="{FF2B5EF4-FFF2-40B4-BE49-F238E27FC236}">
                <a16:creationId xmlns:a16="http://schemas.microsoft.com/office/drawing/2014/main" id="{95C78AB7-9571-E77B-CE7F-3BA598B99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5B0390-843B-5ADE-DC14-338807D21556}"/>
              </a:ext>
            </a:extLst>
          </p:cNvPr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0ED77-2615-9E20-4612-530A4E93E5A3}"/>
              </a:ext>
            </a:extLst>
          </p:cNvPr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MICROSOFT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151C3-7BAA-AE52-5D2E-24419284923E}"/>
              </a:ext>
            </a:extLst>
          </p:cNvPr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22 / 29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9E8AD-C3C6-3540-B88C-1ADC04C3A08E}"/>
              </a:ext>
            </a:extLst>
          </p:cNvPr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03 · TECHNOLOGY MAPPING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2C352-F8B2-40F8-D5A9-A9AC092CBA35}"/>
              </a:ext>
            </a:extLst>
          </p:cNvPr>
          <p:cNvSpPr txBox="1"/>
          <p:nvPr/>
        </p:nvSpPr>
        <p:spPr>
          <a:xfrm>
            <a:off x="548640" y="1188720"/>
            <a:ext cx="109728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3300" i="1" dirty="0">
                <a:solidFill>
                  <a:srgbClr val="4A3D6E"/>
                </a:solidFill>
                <a:latin typeface="Instrument Serif"/>
                <a:ea typeface="Noto Sans SC"/>
              </a:rPr>
              <a:t>AKS</a:t>
            </a:r>
            <a:r>
              <a:rPr lang="zh-CN" altLang="en-US" sz="3300" i="1" dirty="0">
                <a:solidFill>
                  <a:srgbClr val="4A3D6E"/>
                </a:solidFill>
                <a:latin typeface="Instrument Serif"/>
                <a:ea typeface="Noto Sans SC"/>
              </a:rPr>
              <a:t> </a:t>
            </a:r>
            <a:r>
              <a:rPr lang="en-US" altLang="zh-CN" sz="3300" i="1" dirty="0">
                <a:solidFill>
                  <a:srgbClr val="4A3D6E"/>
                </a:solidFill>
                <a:latin typeface="Instrument Serif"/>
                <a:ea typeface="Noto Sans SC"/>
              </a:rPr>
              <a:t>status</a:t>
            </a:r>
            <a:endParaRPr sz="3300" b="0" i="1" dirty="0">
              <a:solidFill>
                <a:srgbClr val="4A3D6E"/>
              </a:solidFill>
              <a:latin typeface="Instrument Serif"/>
              <a:ea typeface="Noto Sans SC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F49E97-9F0A-2082-7E30-576E398706EA}"/>
              </a:ext>
            </a:extLst>
          </p:cNvPr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7F673202-9407-42DA-DFB4-E638632D3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37152"/>
            <a:ext cx="5989104" cy="2114045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C60BDF88-F3A2-78A8-0C2E-1CD8BC9168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489" y="2484979"/>
            <a:ext cx="5248183" cy="241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host-n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6858000" cy="512064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SECTION ·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23 /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320">
                <a:solidFill>
                  <a:srgbClr val="4A3D6E"/>
                </a:solidFill>
                <a:latin typeface="Geist Mono Medium"/>
                <a:ea typeface="Noto Sans SC"/>
              </a:rPr>
              <a:t>04 /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 spc="-30">
                <a:solidFill>
                  <a:srgbClr val="2A1E4A"/>
                </a:solidFill>
                <a:latin typeface="Geist Medium"/>
                <a:ea typeface="Noto Sans SC"/>
              </a:rPr>
              <a:t>讲课的逻辑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400" b="0" i="1">
                <a:solidFill>
                  <a:srgbClr val="2A1E4A"/>
                </a:solidFill>
                <a:latin typeface="Instrument Serif"/>
                <a:ea typeface="Noto Sans SC"/>
              </a:rPr>
              <a:t>How to teach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04 · 180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全局节奏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Reveal first, rebuild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48640" y="224028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38658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3172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开场 · 场景与成品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368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Give them the wow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238658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15 min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78892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293522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00:15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8036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Lab 01 · 让系统读得懂业务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1693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Ontology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2907792"/>
            <a:ext cx="841248" cy="292608"/>
          </a:xfrm>
          <a:prstGeom prst="roundRect">
            <a:avLst>
              <a:gd name="adj" fmla="val 20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2944368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4F2EC"/>
                </a:solidFill>
                <a:latin typeface="Geist Medium"/>
                <a:ea typeface="Noto Sans SC"/>
              </a:rPr>
              <a:t>动手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293522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25 min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33756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34838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00:40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42900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Lab 02 · 把本体变成可调用的工具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6557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MCP · Copilot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3456432"/>
            <a:ext cx="841248" cy="292608"/>
          </a:xfrm>
          <a:prstGeom prst="roundRect">
            <a:avLst>
              <a:gd name="adj" fmla="val 20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0" y="3493008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4F2EC"/>
                </a:solidFill>
                <a:latin typeface="Geist Medium"/>
                <a:ea typeface="Noto Sans SC"/>
              </a:rPr>
              <a:t>动手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348386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30 min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388620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403250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01:20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7764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Lab 03 · 两个智能体分工协作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01421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Agent Framework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005072"/>
            <a:ext cx="841248" cy="292608"/>
          </a:xfrm>
          <a:prstGeom prst="roundRect">
            <a:avLst>
              <a:gd name="adj" fmla="val 20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4041648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4F2EC"/>
                </a:solidFill>
                <a:latin typeface="Geist Medium"/>
                <a:ea typeface="Noto Sans SC"/>
              </a:rPr>
              <a:t>动手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4032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35 min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3484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458114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01:55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2628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 dirty="0">
                <a:solidFill>
                  <a:srgbClr val="2A1E4A"/>
                </a:solidFill>
                <a:latin typeface="Geist Medium"/>
                <a:ea typeface="Noto Sans SC"/>
              </a:rPr>
              <a:t>Lab 04 · </a:t>
            </a:r>
            <a:r>
              <a:rPr sz="1600" b="0" i="0" spc="-15" dirty="0" err="1">
                <a:solidFill>
                  <a:srgbClr val="2A1E4A"/>
                </a:solidFill>
                <a:latin typeface="Geist Medium"/>
                <a:ea typeface="Noto Sans SC"/>
              </a:rPr>
              <a:t>做成</a:t>
            </a:r>
            <a:r>
              <a:rPr sz="1600" b="0" i="0" spc="-15" dirty="0">
                <a:solidFill>
                  <a:srgbClr val="2A1E4A"/>
                </a:solidFill>
                <a:latin typeface="Geist Medium"/>
                <a:ea typeface="Noto Sans SC"/>
              </a:rPr>
              <a:t> Copilot </a:t>
            </a:r>
            <a:r>
              <a:rPr sz="1600" b="0" i="0" spc="-15" dirty="0" err="1">
                <a:solidFill>
                  <a:srgbClr val="2A1E4A"/>
                </a:solidFill>
                <a:latin typeface="Geist Medium"/>
                <a:ea typeface="Noto Sans SC"/>
              </a:rPr>
              <a:t>应用</a:t>
            </a:r>
            <a:endParaRPr sz="1600" b="0" i="0" spc="-15" dirty="0">
              <a:solidFill>
                <a:srgbClr val="2A1E4A"/>
              </a:solidFill>
              <a:latin typeface="Geist Medium"/>
              <a:ea typeface="Noto Sans S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3760" y="456285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FastAPI · ACS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458114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20 min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498348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8640" y="512978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02:15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07492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Lab 05 · 上云与无密码认证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1114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AKS · Entra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5102352"/>
            <a:ext cx="841248" cy="292608"/>
          </a:xfrm>
          <a:prstGeom prst="roundRect">
            <a:avLst>
              <a:gd name="adj" fmla="val 20000"/>
            </a:avLst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58400" y="5138928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4F2EC"/>
                </a:solidFill>
                <a:latin typeface="Geist Medium"/>
                <a:ea typeface="Noto Sans SC"/>
              </a:rPr>
              <a:t>动手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512978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30 min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53212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8640" y="567842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20">
                <a:solidFill>
                  <a:srgbClr val="2A1E4A"/>
                </a:solidFill>
                <a:latin typeface="Geist Mono Medium"/>
                <a:ea typeface="Noto Sans SC"/>
              </a:rPr>
              <a:t>02:45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62356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spc="-15">
                <a:solidFill>
                  <a:srgbClr val="2A1E4A"/>
                </a:solidFill>
                <a:latin typeface="Geist Medium"/>
                <a:ea typeface="Noto Sans SC"/>
              </a:rPr>
              <a:t>收尾 · 架构回顾与 Q&amp;A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566013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82A0"/>
                </a:solidFill>
                <a:latin typeface="Instrument Serif"/>
                <a:ea typeface="Noto Sans SC"/>
              </a:rPr>
              <a:t>Close the loop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567842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spc="60">
                <a:solidFill>
                  <a:srgbClr val="4A3D6E"/>
                </a:solidFill>
                <a:latin typeface="Geist Mono Medium"/>
                <a:ea typeface="Noto Sans SC"/>
              </a:rPr>
              <a:t>15 min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48640" y="6080760"/>
            <a:ext cx="11155680" cy="0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8640" y="6199632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A3D6E"/>
                </a:solidFill>
                <a:latin typeface="Geist Medium"/>
                <a:ea typeface="Noto Sans SC"/>
              </a:rPr>
              <a:t>140 分钟是 Lab,40 分钟是开场 / 休息 / 收尾。四个动手点分布在 Lab 01 / 02 / 03 / 05。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LAB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04 · WHAT MAKES EACH LAB 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五个 Lab 的亮点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One moment each.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12848"/>
            <a:ext cx="11155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43230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3172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spc="-12">
                <a:solidFill>
                  <a:srgbClr val="2A1E4A"/>
                </a:solidFill>
                <a:latin typeface="Geist Medium"/>
                <a:ea typeface="Noto Sans SC"/>
              </a:rPr>
              <a:t>加完 Team,反向遍历自动生效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15184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B82A0"/>
                </a:solidFill>
                <a:latin typeface="Geist Medium"/>
                <a:ea typeface="Noto Sans SC"/>
              </a:rPr>
              <a:t>绑定只声明了一个方向,Project 却能反查到 Team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35240" y="2359152"/>
            <a:ext cx="0" cy="420624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09560" y="24505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4A3D6E"/>
                </a:solidFill>
                <a:latin typeface="Instrument Serif"/>
                <a:ea typeface="Noto Sans SC"/>
              </a:rPr>
              <a:t>声明式建模的杠杆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99232"/>
            <a:ext cx="11155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118104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spc="-12">
                <a:solidFill>
                  <a:srgbClr val="2A1E4A"/>
                </a:solidFill>
                <a:latin typeface="Geist Medium"/>
                <a:ea typeface="Noto Sans SC"/>
              </a:rPr>
              <a:t>还没写智能体,本体已能被任意 MCP 客户端使用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401568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B82A0"/>
                </a:solidFill>
                <a:latin typeface="Geist Medium"/>
                <a:ea typeface="Noto Sans SC"/>
              </a:rPr>
              <a:t>VS Code Copilot 自己决定调 get_related 和 aggregate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3145536"/>
            <a:ext cx="0" cy="420624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09560" y="323697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4A3D6E"/>
                </a:solidFill>
                <a:latin typeface="Instrument Serif"/>
                <a:ea typeface="Noto Sans SC"/>
              </a:rPr>
              <a:t>MCP 是解耦点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85616"/>
            <a:ext cx="11155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00507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90448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spc="-12">
                <a:solidFill>
                  <a:srgbClr val="2A1E4A"/>
                </a:solidFill>
                <a:latin typeface="Geist Medium"/>
                <a:ea typeface="Noto Sans SC"/>
              </a:rPr>
              <a:t>亲手删掉交接契约,看系统开始间歇性画错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187952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B82A0"/>
                </a:solidFill>
                <a:latin typeface="Geist Medium"/>
                <a:ea typeface="Noto Sans SC"/>
              </a:rPr>
              <a:t>全场最关键的 15 分钟,绝不能砍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35240" y="3931920"/>
            <a:ext cx="0" cy="420624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09560" y="4023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4A3D6E"/>
                </a:solidFill>
                <a:latin typeface="Instrument Serif"/>
                <a:ea typeface="Noto Sans SC"/>
              </a:rPr>
              <a:t>稳定性来自契约,不是聪明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11155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79145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690872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spc="-12">
                <a:solidFill>
                  <a:srgbClr val="2A1E4A"/>
                </a:solidFill>
                <a:latin typeface="Geist Medium"/>
                <a:ea typeface="Noto Sans SC"/>
              </a:rPr>
              <a:t>四阶提问的答案与 selftest 完全一致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974336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B82A0"/>
                </a:solidFill>
                <a:latin typeface="Geist Medium"/>
                <a:ea typeface="Noto Sans SC"/>
              </a:rPr>
              <a:t>同一个数字两处对得上,就是「没有幻觉」的直观证据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35240" y="4718304"/>
            <a:ext cx="0" cy="420624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09560" y="480974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4A3D6E"/>
                </a:solidFill>
                <a:latin typeface="Instrument Serif"/>
                <a:ea typeface="Noto Sans SC"/>
              </a:rPr>
              <a:t>grounded 的可验证性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358384"/>
            <a:ext cx="11155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5778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50">
                <a:solidFill>
                  <a:srgbClr val="8B82A0"/>
                </a:solidFill>
                <a:latin typeface="Geist Mono Medium"/>
                <a:ea typeface="Noto Sans SC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477256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spc="-12">
                <a:solidFill>
                  <a:srgbClr val="2A1E4A"/>
                </a:solidFill>
                <a:latin typeface="Geist Medium"/>
                <a:ea typeface="Noto Sans SC"/>
              </a:rPr>
              <a:t>打开 Secret,里面没有任何 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B82A0"/>
                </a:solidFill>
                <a:latin typeface="Geist Medium"/>
                <a:ea typeface="Noto Sans SC"/>
              </a:rPr>
              <a:t>系统在集群里成功调用了模型,全程零密钥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35240" y="5504688"/>
            <a:ext cx="0" cy="420624"/>
          </a:xfrm>
          <a:prstGeom prst="line">
            <a:avLst/>
          </a:prstGeom>
          <a:ln w="9525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909560" y="55961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4A3D6E"/>
                </a:solidFill>
                <a:latin typeface="Instrument Serif"/>
                <a:ea typeface="Noto Sans SC"/>
              </a:rPr>
              <a:t>无密码身份链的四个环节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host-n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6858000" cy="512064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d-logo-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SECTION ·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26 /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320">
                <a:solidFill>
                  <a:srgbClr val="4A3D6E"/>
                </a:solidFill>
                <a:latin typeface="Geist Mono Medium"/>
                <a:ea typeface="Noto Sans SC"/>
              </a:rPr>
              <a:t>05 /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 spc="-30">
                <a:solidFill>
                  <a:srgbClr val="2A1E4A"/>
                </a:solidFill>
                <a:latin typeface="Geist Medium"/>
                <a:ea typeface="Noto Sans SC"/>
              </a:rPr>
              <a:t>我认为重要的事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400" b="0" i="1">
                <a:solidFill>
                  <a:srgbClr val="2A1E4A"/>
                </a:solidFill>
                <a:latin typeface="Instrument Serif"/>
                <a:ea typeface="Noto Sans SC"/>
              </a:rPr>
              <a:t>What matters.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REALITY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200">
                <a:solidFill>
                  <a:srgbClr val="8B82A0"/>
                </a:solidFill>
                <a:latin typeface="Geist Mono Medium"/>
                <a:ea typeface="Noto Sans SC"/>
              </a:rPr>
              <a:t>· 05 · SCOPE, HONESTLY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spc="-25">
                <a:solidFill>
                  <a:srgbClr val="2A1E4A"/>
                </a:solidFill>
                <a:latin typeface="Geist Medium"/>
                <a:ea typeface="Noto Sans SC"/>
              </a:rPr>
              <a:t>现实与愿景 </a:t>
            </a:r>
            <a:r>
              <a:rPr sz="3300" b="0" i="1">
                <a:solidFill>
                  <a:srgbClr val="4A3D6E"/>
                </a:solidFill>
                <a:latin typeface="Instrument Serif"/>
                <a:ea typeface="Noto Sans SC"/>
              </a:rPr>
              <a:t>What ships today vs. 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557784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9E4"/>
            </a:solidFill>
          </a:ln>
          <a:effectLst>
            <a:outerShdw blurRad="70000" dist="20000" dir="5400000" algn="ctr" rotWithShape="0">
              <a:srgbClr val="0A0A0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8B82A0"/>
                </a:solidFill>
                <a:latin typeface="Geist Mono Medium"/>
                <a:ea typeface="Noto Sans SC"/>
              </a:rPr>
              <a:t>COURSE ·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1">
                <a:solidFill>
                  <a:srgbClr val="2A1E4A"/>
                </a:solidFill>
                <a:latin typeface="Instrument Serif"/>
                <a:ea typeface="Noto Sans SC"/>
              </a:rPr>
              <a:t>课程已实现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11880"/>
            <a:ext cx="365760" cy="20116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60">
                <a:solidFill>
                  <a:srgbClr val="4A3D6E"/>
                </a:solidFill>
                <a:latin typeface="Geist Mono Medium"/>
                <a:ea typeface="Noto Sans SC"/>
              </a:rPr>
              <a:t>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59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助理 + 分析师双智能体顺序工作流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60">
                <a:solidFill>
                  <a:srgbClr val="4A3D6E"/>
                </a:solidFill>
                <a:latin typeface="Geist Mono Medium"/>
                <a:ea typeface="Noto Sans SC"/>
              </a:rPr>
              <a:t>知识源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23367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本地 MCP 解析本体 · 11 行模拟数据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0016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60">
                <a:solidFill>
                  <a:srgbClr val="4A3D6E"/>
                </a:solidFill>
                <a:latin typeface="Geist Mono Medium"/>
                <a:ea typeface="Noto Sans SC"/>
              </a:rPr>
              <a:t>可信度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672584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答案 grounded · 服务端聚合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38927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60">
                <a:solidFill>
                  <a:srgbClr val="4A3D6E"/>
                </a:solidFill>
                <a:latin typeface="Geist Mono Medium"/>
                <a:ea typeface="Noto Sans SC"/>
              </a:rPr>
              <a:t>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11495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讲师预置基础设施,课上做应用层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60">
                <a:solidFill>
                  <a:srgbClr val="4A3D6E"/>
                </a:solidFill>
                <a:latin typeface="Geist Mono Medium"/>
                <a:ea typeface="Noto Sans SC"/>
              </a:rPr>
              <a:t>沙箱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55040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A1E4A"/>
                </a:solidFill>
                <a:latin typeface="Geist Medium"/>
                <a:ea typeface="Noto Sans SC"/>
              </a:rPr>
              <a:t>会话池已预置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362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3D6E"/>
                </a:solidFill>
                <a:latin typeface="Geist Medium"/>
                <a:ea typeface="Noto Sans SC"/>
              </a:rPr>
              <a:t>坦白这些边界不会削弱课程 —— 学员看到的每个技术点都真实可用,只是规模被压缩到 3 小时能走完。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411480"/>
            <a:ext cx="502920" cy="37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5263" y="37490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spc="-20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5263" y="6309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6350">
            <a:solidFill>
              <a:srgbClr val="DF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92824"/>
            <a:ext cx="182880" cy="137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601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6019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THE THROUGH-LINE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24000" b="0" i="0">
                <a:solidFill>
                  <a:srgbClr val="2A1E4A"/>
                </a:solidFill>
                <a:latin typeface="Instrument Serif"/>
                <a:ea typeface="Noto Sans SC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03120"/>
            <a:ext cx="9509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2A1E4A"/>
                </a:solidFill>
                <a:latin typeface="Instrument Serif"/>
                <a:ea typeface="Noto Sans SC"/>
              </a:rPr>
              <a:t>Understand → Reason →</a:t>
            </a:r>
          </a:p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2A1E4A"/>
                </a:solidFill>
                <a:latin typeface="Instrument Serif"/>
                <a:ea typeface="Noto Sans SC"/>
              </a:rPr>
              <a:t>Build →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4805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A3D6E"/>
                </a:solidFill>
                <a:latin typeface="Geist Medium"/>
                <a:ea typeface="Noto Sans SC"/>
              </a:rPr>
              <a:t>读得懂业务 → 想得通问题 → 搭得起来 → 跑得动规模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9834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A3D6E"/>
                </a:solidFill>
                <a:latin typeface="Geist Medium"/>
                <a:ea typeface="Noto Sans SC"/>
              </a:rPr>
              <a:t>把散落的经营数据,变成可被追问、可被信任的运营智能。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5623560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5760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80">
                <a:solidFill>
                  <a:srgbClr val="8B82A0"/>
                </a:solidFill>
                <a:latin typeface="Geist Mono Medium"/>
                <a:ea typeface="Noto Sans SC"/>
              </a:rPr>
              <a:t>收尾台词 · 换成客户 / 订单 / 履约,路径完全一样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en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194560"/>
            <a:ext cx="2743200" cy="2057400"/>
          </a:xfrm>
          <a:prstGeom prst="rect">
            <a:avLst/>
          </a:prstGeom>
        </p:spPr>
      </p:pic>
      <p:pic>
        <p:nvPicPr>
          <p:cNvPr id="4" name="Picture 3" descr="nd-logo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57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spc="-25">
                <a:solidFill>
                  <a:srgbClr val="2A1E4A"/>
                </a:solidFill>
                <a:latin typeface="Geist Black"/>
                <a:ea typeface="Noto Sans SC"/>
              </a:rPr>
              <a:t>ITD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58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3D6E"/>
                </a:solidFill>
                <a:latin typeface="Instrument Serif"/>
                <a:ea typeface="Noto Sans SC"/>
              </a:rPr>
              <a:t>Next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320">
                <a:solidFill>
                  <a:srgbClr val="8B82A0"/>
                </a:solidFill>
                <a:latin typeface="Geist Mono Medium"/>
                <a:ea typeface="Noto Sans SC"/>
              </a:rPr>
              <a:t>· 3 HOURS FROM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8229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 i="1">
                <a:solidFill>
                  <a:srgbClr val="2A1E4A"/>
                </a:solidFill>
                <a:latin typeface="Instrument Serif"/>
                <a:ea typeface="Noto Sans SC"/>
              </a:rPr>
              <a:t>Let's build the</a:t>
            </a:r>
          </a:p>
          <a:p>
            <a:pPr algn="l">
              <a:lnSpc>
                <a:spcPct val="110000"/>
              </a:lnSpc>
            </a:pPr>
            <a:r>
              <a:rPr sz="6600" b="0" i="1">
                <a:solidFill>
                  <a:srgbClr val="2A1E4A"/>
                </a:solidFill>
                <a:latin typeface="Instrument Serif"/>
                <a:ea typeface="Noto Sans SC"/>
              </a:rPr>
              <a:t>understanding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440680"/>
            <a:ext cx="457200" cy="22860"/>
          </a:xfrm>
          <a:prstGeom prst="rect">
            <a:avLst/>
          </a:prstGeom>
          <a:solidFill>
            <a:srgbClr val="2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320">
                <a:solidFill>
                  <a:srgbClr val="4A3D6E"/>
                </a:solidFill>
                <a:latin typeface="Geist Mono Medium"/>
                <a:ea typeface="Noto Sans SC"/>
              </a:rPr>
              <a:t>FABRIC IQ   ·   MCP   ·   AGENT FRAMEWORK   ·   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ITD · NEXT DIMENSION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60196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8B82A0"/>
                </a:solidFill>
                <a:latin typeface="Geist Mono Medium"/>
                <a:ea typeface="Noto Sans S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2058</Words>
  <Application>Microsoft Macintosh PowerPoint</Application>
  <PresentationFormat>宽屏</PresentationFormat>
  <Paragraphs>622</Paragraphs>
  <Slides>29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Arial</vt:lpstr>
      <vt:lpstr>Calibri</vt:lpstr>
      <vt:lpstr>Geist Black</vt:lpstr>
      <vt:lpstr>Geist Medium</vt:lpstr>
      <vt:lpstr>Geist Mono Medium</vt:lpstr>
      <vt:lpstr>Instrument Serif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Tarry Wang</cp:lastModifiedBy>
  <cp:revision>6</cp:revision>
  <dcterms:created xsi:type="dcterms:W3CDTF">2013-01-27T09:14:16Z</dcterms:created>
  <dcterms:modified xsi:type="dcterms:W3CDTF">2026-08-27T07:32:26Z</dcterms:modified>
  <cp:category/>
</cp:coreProperties>
</file>