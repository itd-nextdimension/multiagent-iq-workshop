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551" r:id="rId5"/>
    <p:sldMasterId id="2147485608" r:id="rId6"/>
  </p:sldMasterIdLst>
  <p:notesMasterIdLst>
    <p:notesMasterId r:id="rId50"/>
  </p:notesMasterIdLst>
  <p:handoutMasterIdLst>
    <p:handoutMasterId r:id="rId51"/>
  </p:handoutMasterIdLst>
  <p:sldIdLst>
    <p:sldId id="2147479553" r:id="rId7"/>
    <p:sldId id="2147479584" r:id="rId8"/>
    <p:sldId id="2076137993" r:id="rId9"/>
    <p:sldId id="2147479585" r:id="rId10"/>
    <p:sldId id="1660" r:id="rId11"/>
    <p:sldId id="2147479557" r:id="rId12"/>
    <p:sldId id="2147479586" r:id="rId13"/>
    <p:sldId id="2076137994" r:id="rId14"/>
    <p:sldId id="2147479613" r:id="rId15"/>
    <p:sldId id="2147479589" r:id="rId16"/>
    <p:sldId id="2076137992" r:id="rId17"/>
    <p:sldId id="2147479594" r:id="rId18"/>
    <p:sldId id="2147479590" r:id="rId19"/>
    <p:sldId id="2147479614" r:id="rId20"/>
    <p:sldId id="2147479591" r:id="rId21"/>
    <p:sldId id="2147479587" r:id="rId22"/>
    <p:sldId id="2147479588" r:id="rId23"/>
    <p:sldId id="2147479592" r:id="rId24"/>
    <p:sldId id="2147479595" r:id="rId25"/>
    <p:sldId id="2147479593" r:id="rId26"/>
    <p:sldId id="1716" r:id="rId27"/>
    <p:sldId id="2147479484" r:id="rId28"/>
    <p:sldId id="2076138187" r:id="rId29"/>
    <p:sldId id="2147479600" r:id="rId30"/>
    <p:sldId id="2147479485" r:id="rId31"/>
    <p:sldId id="2147479607" r:id="rId32"/>
    <p:sldId id="2147479601" r:id="rId33"/>
    <p:sldId id="2147479605" r:id="rId34"/>
    <p:sldId id="2147479608" r:id="rId35"/>
    <p:sldId id="2147479602" r:id="rId36"/>
    <p:sldId id="2147479611" r:id="rId37"/>
    <p:sldId id="2147479609" r:id="rId38"/>
    <p:sldId id="2147479603" r:id="rId39"/>
    <p:sldId id="2147479606" r:id="rId40"/>
    <p:sldId id="2076138188" r:id="rId41"/>
    <p:sldId id="2147479604" r:id="rId42"/>
    <p:sldId id="2147479612" r:id="rId43"/>
    <p:sldId id="2147479610" r:id="rId44"/>
    <p:sldId id="2147479596" r:id="rId45"/>
    <p:sldId id="2147479597" r:id="rId46"/>
    <p:sldId id="2147479598" r:id="rId47"/>
    <p:sldId id="2147479599" r:id="rId48"/>
    <p:sldId id="2147479528" r:id="rId49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9AC6"/>
    <a:srgbClr val="A5D3ED"/>
    <a:srgbClr val="000000"/>
    <a:srgbClr val="C6CFEC"/>
    <a:srgbClr val="C5B4E3"/>
    <a:srgbClr val="8DC8E8"/>
    <a:srgbClr val="2C386A"/>
    <a:srgbClr val="0078D4"/>
    <a:srgbClr val="463668"/>
    <a:srgbClr val="3543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AAAE20-F416-E50E-EBA6-B948E8060F48}" v="6" dt="2026-08-17T04:29:54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presProps" Target="presProps.xml"/><Relationship Id="rId58" Type="http://schemas.microsoft.com/office/2018/10/relationships/authors" Target="author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microsoft.com/office/2015/10/relationships/revisionInfo" Target="revisionInfo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9/6/26 8:09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9/6/26 8:08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4060-AE58-9BF1-8BF8-1E60A4FE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EAD3-77F1-C384-1F73-6F23610FA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4CA84-212B-394A-DEF7-C1CFCF486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BEFFB9D-8498-C3F5-CF3F-F5F0BE2AFC4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482B4-4441-6409-9703-92C7CD1EF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7820857-52BE-258C-1819-2B3596DCFC8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2072DC8-D49D-432C-9D46-A7718B5F5490}" type="datetime8">
              <a:rPr lang="en-US" smtClean="0"/>
              <a:t>9/6/26 8:08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9B8BC-1F5F-6C8E-33EC-0604E04293C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57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9/6/26 8:08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82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72E0C910-0166-48E0-B8EF-5071277A02A8}" type="datetime8">
              <a:rPr lang="en-US" smtClean="0"/>
              <a:t>9/6/26 8:08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89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9/6/26 8:08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54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9/6/26 8:08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9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5CD2277-7C1A-43CA-8676-87B24AD584BD}" type="datetime8">
              <a:rPr lang="en-US" smtClean="0"/>
              <a:t>9/6/26 8:08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42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9/6/26 8:08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67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49B14B72-BE03-4760-B747-D349DA60D861}" type="datetime8">
              <a:rPr lang="en-US" smtClean="0"/>
              <a:t>9/6/26 8:08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98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9/6/26 8:08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52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9/6/26 8:08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01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jpe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3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3.xml"/><Relationship Id="rId4" Type="http://schemas.microsoft.com/office/2007/relationships/hdphoto" Target="../media/hdphoto3.wdp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3.xml"/><Relationship Id="rId4" Type="http://schemas.microsoft.com/office/2007/relationships/hdphoto" Target="../media/hdphoto3.wdp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E129F630-4198-A54D-92AE-CAAF8ADCD6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D49CAB1-4EB2-09AA-20D9-FA6E6EC0E6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9034" y="2096726"/>
            <a:ext cx="5161229" cy="24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457200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078D4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4572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MS logo gray - EMF" descr="Microsoft logo, gray text version">
            <a:extLst>
              <a:ext uri="{FF2B5EF4-FFF2-40B4-BE49-F238E27FC236}">
                <a16:creationId xmlns:a16="http://schemas.microsoft.com/office/drawing/2014/main" id="{3F61F1B2-865D-EC75-D080-B77DC7FE64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2C386A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8DC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2C386A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8DC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S logo white - EMF" descr="Microsoft logo white text version">
            <a:extLst>
              <a:ext uri="{FF2B5EF4-FFF2-40B4-BE49-F238E27FC236}">
                <a16:creationId xmlns:a16="http://schemas.microsoft.com/office/drawing/2014/main" id="{E3F2D131-C4A2-F59F-2172-831DB7552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746D7E1-2CB5-2608-0E99-9EB58678B1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9034" y="2096726"/>
            <a:ext cx="5161229" cy="24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457200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rgbClr val="A5D3ED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4572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47351AD9-8B4D-47E6-CC23-97A807802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0430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A5D3ED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A5D3ED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75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49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7CBDD-49E9-BBDF-550B-482E4E570E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1363FF4-6EF0-D2BC-8DFE-19CC89CD92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DC3595B-25C2-CF43-259D-75A3671E70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Sans Display" pitchFamily="2" charset="0"/>
                <a:cs typeface="Segoe Sans Display" pitchFamily="2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Sans Display" pitchFamily="2" charset="0"/>
                <a:cs typeface="Segoe Sans Display" pitchFamily="2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A3D27F9-7D19-8ECF-C50E-71D515E54B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2CDB0-015D-94C2-ECEE-970711F59E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1E17F0-59B9-3EAE-0FC7-A1EBDE8F7B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96CCFA2-2D28-1617-4A3E-368924E943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AB70484-C812-6F3C-92DD-F6B2E1A813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A97F131-E501-E84F-7717-E61457B6D3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134AA3C-2F0D-D667-86A9-3A48F0A226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paper&#10;&#10;Description automatically generated">
            <a:extLst>
              <a:ext uri="{FF2B5EF4-FFF2-40B4-BE49-F238E27FC236}">
                <a16:creationId xmlns:a16="http://schemas.microsoft.com/office/drawing/2014/main" id="{4098A1A4-72D7-9974-7700-B4D128ACED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3283" r="2869"/>
          <a:stretch/>
        </p:blipFill>
        <p:spPr>
          <a:xfrm>
            <a:off x="7228114" y="292100"/>
            <a:ext cx="4659086" cy="59769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6583680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5394960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7CBDD-49E9-BBDF-550B-482E4E570E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658368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D4F7535E-BABE-1B76-52D3-D100205F62B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76380" y="1866864"/>
            <a:ext cx="5544120" cy="3124272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731520" rIns="73152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7025307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i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spiral&#10;&#10;Description automatically generated">
            <a:extLst>
              <a:ext uri="{FF2B5EF4-FFF2-40B4-BE49-F238E27FC236}">
                <a16:creationId xmlns:a16="http://schemas.microsoft.com/office/drawing/2014/main" id="{3117FEF8-62E3-EC02-1329-2468770772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1076" r="41052" b="23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875002"/>
            <a:ext cx="3840862" cy="1107996"/>
          </a:xfrm>
        </p:spPr>
        <p:txBody>
          <a:bodyPr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D4F7535E-BABE-1B76-52D3-D100205F62B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924425" y="1542284"/>
            <a:ext cx="6696075" cy="3773432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731520" rIns="73152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15338988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Floating Square Phot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 up of a colorful paper&#10;&#10;Description automatically generated">
            <a:extLst>
              <a:ext uri="{FF2B5EF4-FFF2-40B4-BE49-F238E27FC236}">
                <a16:creationId xmlns:a16="http://schemas.microsoft.com/office/drawing/2014/main" id="{D5587F9B-0EDF-E50B-C4BC-0186F94307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0409" t="26788" r="18433"/>
          <a:stretch/>
        </p:blipFill>
        <p:spPr>
          <a:xfrm>
            <a:off x="6544300" y="585788"/>
            <a:ext cx="5076199" cy="5079046"/>
          </a:xfrm>
          <a:prstGeom prst="rect">
            <a:avLst/>
          </a:prstGeom>
        </p:spPr>
      </p:pic>
      <p:sp>
        <p:nvSpPr>
          <p:cNvPr id="13" name="Square">
            <a:extLst>
              <a:ext uri="{FF2B5EF4-FFF2-40B4-BE49-F238E27FC236}">
                <a16:creationId xmlns:a16="http://schemas.microsoft.com/office/drawing/2014/main" id="{CD4E65D4-0149-05A6-AC78-ED3627A5975E}"/>
              </a:ext>
            </a:extLst>
          </p:cNvPr>
          <p:cNvSpPr/>
          <p:nvPr userDrawn="1"/>
        </p:nvSpPr>
        <p:spPr>
          <a:xfrm>
            <a:off x="5940097" y="1148397"/>
            <a:ext cx="5120640" cy="5120640"/>
          </a:xfrm>
          <a:prstGeom prst="rect">
            <a:avLst/>
          </a:prstGeom>
          <a:gradFill>
            <a:gsLst>
              <a:gs pos="0">
                <a:srgbClr val="FFE399">
                  <a:alpha val="80000"/>
                </a:srgbClr>
              </a:gs>
              <a:gs pos="22465">
                <a:srgbClr val="F6A570">
                  <a:alpha val="40000"/>
                </a:srgbClr>
              </a:gs>
              <a:gs pos="41583">
                <a:srgbClr val="FF5C39">
                  <a:alpha val="0"/>
                </a:srgbClr>
              </a:gs>
              <a:gs pos="48805">
                <a:srgbClr val="FF5C39">
                  <a:alpha val="158"/>
                </a:srgbClr>
              </a:gs>
              <a:gs pos="55970">
                <a:srgbClr val="FF5C39">
                  <a:alpha val="317"/>
                </a:srgbClr>
              </a:gs>
              <a:gs pos="100000">
                <a:srgbClr val="FF5C39">
                  <a:alpha val="50000"/>
                </a:srgbClr>
              </a:gs>
            </a:gsLst>
            <a:lin ang="18900000"/>
          </a:gradFill>
          <a:ln w="12700">
            <a:miter lim="400000"/>
          </a:ln>
        </p:spPr>
        <p:txBody>
          <a:bodyPr lIns="146304" tIns="146304" rIns="146304" bIns="146304"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745164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749800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6544300" y="1752600"/>
            <a:ext cx="3912234" cy="3912234"/>
          </a:xfrm>
          <a:solidFill>
            <a:schemeClr val="tx1"/>
          </a:solidFill>
        </p:spPr>
        <p:txBody>
          <a:bodyPr lIns="0" tIns="9144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42251539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Floating Square Photo Graph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01305EF0-EAC4-FB22-9A8C-E2B9DEA52D00}"/>
              </a:ext>
            </a:extLst>
          </p:cNvPr>
          <p:cNvSpPr/>
          <p:nvPr userDrawn="1"/>
        </p:nvSpPr>
        <p:spPr>
          <a:xfrm>
            <a:off x="5919788" y="-16074"/>
            <a:ext cx="6278745" cy="6890148"/>
          </a:xfrm>
          <a:prstGeom prst="rect">
            <a:avLst/>
          </a:prstGeom>
          <a:solidFill>
            <a:srgbClr val="325A61"/>
          </a:solidFill>
          <a:ln w="12700">
            <a:miter lim="400000"/>
          </a:ln>
        </p:spPr>
        <p:txBody>
          <a:bodyPr lIns="146304" tIns="146304" rIns="146304" bIns="146304"/>
          <a:lstStyle/>
          <a:p>
            <a:endParaRPr/>
          </a:p>
        </p:txBody>
      </p:sp>
      <p:pic>
        <p:nvPicPr>
          <p:cNvPr id="13" name="Picture 12" descr="A close-up of a spiral&#10;&#10;Description automatically generated">
            <a:extLst>
              <a:ext uri="{FF2B5EF4-FFF2-40B4-BE49-F238E27FC236}">
                <a16:creationId xmlns:a16="http://schemas.microsoft.com/office/drawing/2014/main" id="{27B37B92-2B88-B680-79AF-C8FBEB372F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68" r="52101" b="24863"/>
          <a:stretch/>
        </p:blipFill>
        <p:spPr>
          <a:xfrm>
            <a:off x="5919787" y="1"/>
            <a:ext cx="5683949" cy="570635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3068637"/>
            <a:ext cx="3200400" cy="3200400"/>
          </a:xfrm>
          <a:solidFill>
            <a:schemeClr val="tx1"/>
          </a:solidFill>
        </p:spPr>
        <p:txBody>
          <a:bodyPr lIns="0" tIns="9144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40903696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Square Phot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colorful paper&#10;&#10;Description automatically generated">
            <a:extLst>
              <a:ext uri="{FF2B5EF4-FFF2-40B4-BE49-F238E27FC236}">
                <a16:creationId xmlns:a16="http://schemas.microsoft.com/office/drawing/2014/main" id="{13F3D321-35EF-3FCA-D704-3DF8CCB7FA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7513" r="16269"/>
          <a:stretch/>
        </p:blipFill>
        <p:spPr>
          <a:xfrm>
            <a:off x="5334001" y="0"/>
            <a:ext cx="6858000" cy="6861846"/>
          </a:xfrm>
          <a:prstGeom prst="rect">
            <a:avLst/>
          </a:prstGeom>
        </p:spPr>
      </p:pic>
      <p:sp>
        <p:nvSpPr>
          <p:cNvPr id="7" name="Square">
            <a:extLst>
              <a:ext uri="{FF2B5EF4-FFF2-40B4-BE49-F238E27FC236}">
                <a16:creationId xmlns:a16="http://schemas.microsoft.com/office/drawing/2014/main" id="{59924524-2A9E-BD7E-8BA2-DB53D96DD871}"/>
              </a:ext>
            </a:extLst>
          </p:cNvPr>
          <p:cNvSpPr/>
          <p:nvPr userDrawn="1"/>
        </p:nvSpPr>
        <p:spPr>
          <a:xfrm>
            <a:off x="6202680" y="868680"/>
            <a:ext cx="5120640" cy="5120640"/>
          </a:xfrm>
          <a:prstGeom prst="rect">
            <a:avLst/>
          </a:prstGeom>
          <a:gradFill>
            <a:gsLst>
              <a:gs pos="0">
                <a:srgbClr val="FFE399">
                  <a:alpha val="80000"/>
                </a:srgbClr>
              </a:gs>
              <a:gs pos="22465">
                <a:srgbClr val="F6A570">
                  <a:alpha val="40000"/>
                </a:srgbClr>
              </a:gs>
              <a:gs pos="41583">
                <a:srgbClr val="FF5C39">
                  <a:alpha val="0"/>
                </a:srgbClr>
              </a:gs>
              <a:gs pos="48805">
                <a:srgbClr val="FF5C39">
                  <a:alpha val="158"/>
                </a:srgbClr>
              </a:gs>
              <a:gs pos="55970">
                <a:srgbClr val="FF5C39">
                  <a:alpha val="317"/>
                </a:srgbClr>
              </a:gs>
              <a:gs pos="100000">
                <a:srgbClr val="FF5C39">
                  <a:alpha val="50000"/>
                </a:srgbClr>
              </a:gs>
            </a:gsLst>
            <a:lin ang="18900000"/>
          </a:gradFill>
          <a:ln w="12700">
            <a:miter lim="400000"/>
          </a:ln>
        </p:spPr>
        <p:txBody>
          <a:bodyPr lIns="146304" tIns="146304" rIns="146304" bIns="146304"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6705600" y="1371600"/>
            <a:ext cx="4114800" cy="4114800"/>
          </a:xfrm>
          <a:solidFill>
            <a:schemeClr val="tx1"/>
          </a:solidFill>
        </p:spPr>
        <p:txBody>
          <a:bodyPr lIns="0" tIns="11887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215892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 userDrawn="1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Square Photo Graph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a spiral&#10;&#10;Description automatically generated">
            <a:extLst>
              <a:ext uri="{FF2B5EF4-FFF2-40B4-BE49-F238E27FC236}">
                <a16:creationId xmlns:a16="http://schemas.microsoft.com/office/drawing/2014/main" id="{5B1B145A-44EF-E1DF-CB05-2BA9B2DB9F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8707" t="12025" r="28707" b="12025"/>
          <a:stretch/>
        </p:blipFill>
        <p:spPr>
          <a:xfrm>
            <a:off x="5334000" y="1"/>
            <a:ext cx="6858000" cy="6885030"/>
          </a:xfrm>
          <a:prstGeom prst="rect">
            <a:avLst/>
          </a:prstGeom>
        </p:spPr>
      </p:pic>
      <p:sp>
        <p:nvSpPr>
          <p:cNvPr id="7" name="Square">
            <a:extLst>
              <a:ext uri="{FF2B5EF4-FFF2-40B4-BE49-F238E27FC236}">
                <a16:creationId xmlns:a16="http://schemas.microsoft.com/office/drawing/2014/main" id="{59924524-2A9E-BD7E-8BA2-DB53D96DD871}"/>
              </a:ext>
            </a:extLst>
          </p:cNvPr>
          <p:cNvSpPr/>
          <p:nvPr userDrawn="1"/>
        </p:nvSpPr>
        <p:spPr>
          <a:xfrm>
            <a:off x="6202680" y="868680"/>
            <a:ext cx="5120640" cy="5120640"/>
          </a:xfrm>
          <a:prstGeom prst="rect">
            <a:avLst/>
          </a:prstGeom>
          <a:gradFill>
            <a:gsLst>
              <a:gs pos="0">
                <a:srgbClr val="FFE399">
                  <a:alpha val="80000"/>
                </a:srgbClr>
              </a:gs>
              <a:gs pos="22465">
                <a:srgbClr val="F6A570">
                  <a:alpha val="40000"/>
                </a:srgbClr>
              </a:gs>
              <a:gs pos="41583">
                <a:srgbClr val="FF5C39">
                  <a:alpha val="0"/>
                </a:srgbClr>
              </a:gs>
              <a:gs pos="48805">
                <a:srgbClr val="FF5C39">
                  <a:alpha val="158"/>
                </a:srgbClr>
              </a:gs>
              <a:gs pos="55970">
                <a:srgbClr val="FF5C39">
                  <a:alpha val="317"/>
                </a:srgbClr>
              </a:gs>
              <a:gs pos="100000">
                <a:srgbClr val="FF5C39">
                  <a:alpha val="50000"/>
                </a:srgbClr>
              </a:gs>
            </a:gsLst>
            <a:lin ang="18900000"/>
          </a:gradFill>
          <a:ln w="12700">
            <a:miter lim="400000"/>
          </a:ln>
        </p:spPr>
        <p:txBody>
          <a:bodyPr lIns="146304" tIns="146304" rIns="146304" bIns="146304"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6705600" y="1371600"/>
            <a:ext cx="4114800" cy="4114800"/>
          </a:xfrm>
          <a:solidFill>
            <a:schemeClr val="tx1"/>
          </a:solidFill>
        </p:spPr>
        <p:txBody>
          <a:bodyPr lIns="0" tIns="11887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85636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 userDrawn="1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Square Photo Graph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balloon&#10;&#10;Description automatically generated">
            <a:extLst>
              <a:ext uri="{FF2B5EF4-FFF2-40B4-BE49-F238E27FC236}">
                <a16:creationId xmlns:a16="http://schemas.microsoft.com/office/drawing/2014/main" id="{9279B191-B390-A33E-43AA-4CC5DCB1EB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0886" r="4820" b="3486"/>
          <a:stretch/>
        </p:blipFill>
        <p:spPr>
          <a:xfrm>
            <a:off x="5334000" y="0"/>
            <a:ext cx="6853237" cy="6858000"/>
          </a:xfrm>
          <a:prstGeom prst="rect">
            <a:avLst/>
          </a:prstGeom>
        </p:spPr>
      </p:pic>
      <p:sp>
        <p:nvSpPr>
          <p:cNvPr id="7" name="Square">
            <a:extLst>
              <a:ext uri="{FF2B5EF4-FFF2-40B4-BE49-F238E27FC236}">
                <a16:creationId xmlns:a16="http://schemas.microsoft.com/office/drawing/2014/main" id="{59924524-2A9E-BD7E-8BA2-DB53D96DD871}"/>
              </a:ext>
            </a:extLst>
          </p:cNvPr>
          <p:cNvSpPr/>
          <p:nvPr userDrawn="1"/>
        </p:nvSpPr>
        <p:spPr>
          <a:xfrm>
            <a:off x="6202680" y="868680"/>
            <a:ext cx="5120640" cy="5120640"/>
          </a:xfrm>
          <a:prstGeom prst="rect">
            <a:avLst/>
          </a:prstGeom>
          <a:gradFill>
            <a:gsLst>
              <a:gs pos="0">
                <a:srgbClr val="FFE399">
                  <a:alpha val="80000"/>
                </a:srgbClr>
              </a:gs>
              <a:gs pos="22465">
                <a:srgbClr val="F6A570">
                  <a:alpha val="40000"/>
                </a:srgbClr>
              </a:gs>
              <a:gs pos="41583">
                <a:srgbClr val="FF5C39">
                  <a:alpha val="0"/>
                </a:srgbClr>
              </a:gs>
              <a:gs pos="48805">
                <a:srgbClr val="FF5C39">
                  <a:alpha val="158"/>
                </a:srgbClr>
              </a:gs>
              <a:gs pos="55970">
                <a:srgbClr val="FF5C39">
                  <a:alpha val="317"/>
                </a:srgbClr>
              </a:gs>
              <a:gs pos="100000">
                <a:srgbClr val="FF5C39">
                  <a:alpha val="50000"/>
                </a:srgbClr>
              </a:gs>
            </a:gsLst>
            <a:lin ang="18900000"/>
          </a:gradFill>
          <a:ln w="12700">
            <a:miter lim="400000"/>
          </a:ln>
        </p:spPr>
        <p:txBody>
          <a:bodyPr lIns="146304" tIns="146304" rIns="146304" bIns="146304"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6705600" y="1371600"/>
            <a:ext cx="4114800" cy="4114800"/>
          </a:xfrm>
          <a:solidFill>
            <a:schemeClr val="tx1"/>
          </a:solidFill>
        </p:spPr>
        <p:txBody>
          <a:bodyPr lIns="0" tIns="11887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8238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 userDrawn="1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solidFill>
            <a:schemeClr val="tx1"/>
          </a:solid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solidFill>
            <a:schemeClr val="tx1"/>
          </a:solid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solidFill>
            <a:schemeClr val="tx1"/>
          </a:solid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solidFill>
            <a:schemeClr val="tx1"/>
          </a:solid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solidFill>
            <a:schemeClr val="tx1"/>
          </a:solid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solidFill>
            <a:schemeClr val="tx1"/>
          </a:solid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solidFill>
            <a:schemeClr val="tx1"/>
          </a:solid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solidFill>
            <a:schemeClr val="tx1"/>
          </a:solid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solidFill>
            <a:schemeClr val="tx1"/>
          </a:solid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solidFill>
            <a:schemeClr val="tx1"/>
          </a:solid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6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6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6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6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solidFill>
            <a:schemeClr val="tx1"/>
          </a:solid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8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solidFill>
            <a:schemeClr val="tx1"/>
          </a:solid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8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solidFill>
            <a:schemeClr val="tx1"/>
          </a:solid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8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solidFill>
            <a:schemeClr val="tx1"/>
          </a:solid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8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solidFill>
            <a:schemeClr val="tx1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9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9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9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solidFill>
            <a:schemeClr val="tx1"/>
          </a:solid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9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veloper Cod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41772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417728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5F20BF-1B1B-50CA-191C-F2202EAF5B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solidFill>
            <a:schemeClr val="tx1"/>
          </a:solid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  <p15:guide id="5" pos="3360" userDrawn="1">
          <p15:clr>
            <a:srgbClr val="5ACBF0"/>
          </p15:clr>
        </p15:guide>
        <p15:guide id="6" pos="3000" userDrawn="1">
          <p15:clr>
            <a:srgbClr val="5ACBF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41772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417728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8" name="Picture 7" descr="A close up of a colorful paper&#10;&#10;Description automatically generated">
            <a:extLst>
              <a:ext uri="{FF2B5EF4-FFF2-40B4-BE49-F238E27FC236}">
                <a16:creationId xmlns:a16="http://schemas.microsoft.com/office/drawing/2014/main" id="{687381A5-607B-B014-F398-77FE54061B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7513" r="16269"/>
          <a:stretch/>
        </p:blipFill>
        <p:spPr>
          <a:xfrm>
            <a:off x="5334001" y="0"/>
            <a:ext cx="6858000" cy="686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587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  <p15:guide id="5" pos="3360" userDrawn="1">
          <p15:clr>
            <a:srgbClr val="5ACBF0"/>
          </p15:clr>
        </p15:guide>
        <p15:guide id="6" pos="3000" userDrawn="1">
          <p15:clr>
            <a:srgbClr val="5ACBF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spiral&#10;&#10;Description automatically generated">
            <a:extLst>
              <a:ext uri="{FF2B5EF4-FFF2-40B4-BE49-F238E27FC236}">
                <a16:creationId xmlns:a16="http://schemas.microsoft.com/office/drawing/2014/main" id="{F5C3DD92-2C82-EC44-A9FF-8F934C9194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8707" t="12025" r="28707" b="12025"/>
          <a:stretch/>
        </p:blipFill>
        <p:spPr>
          <a:xfrm>
            <a:off x="5334000" y="1"/>
            <a:ext cx="6858000" cy="68850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41772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417728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4136959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  <p15:guide id="5" pos="3360">
          <p15:clr>
            <a:srgbClr val="5ACBF0"/>
          </p15:clr>
        </p15:guide>
        <p15:guide id="6" pos="3000">
          <p15:clr>
            <a:srgbClr val="5ACBF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balloon&#10;&#10;Description automatically generated">
            <a:extLst>
              <a:ext uri="{FF2B5EF4-FFF2-40B4-BE49-F238E27FC236}">
                <a16:creationId xmlns:a16="http://schemas.microsoft.com/office/drawing/2014/main" id="{44D59BE4-AB34-CBD0-220A-B676073470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0886" r="4820" b="3486"/>
          <a:stretch/>
        </p:blipFill>
        <p:spPr>
          <a:xfrm>
            <a:off x="5334000" y="0"/>
            <a:ext cx="685323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41772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417728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630008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  <p15:guide id="5" pos="3360">
          <p15:clr>
            <a:srgbClr val="5ACBF0"/>
          </p15:clr>
        </p15:guide>
        <p15:guide id="6" pos="3000">
          <p15:clr>
            <a:srgbClr val="5ACBF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1E8B5B3-E911-FA3B-060D-08ACEFE48A2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solidFill>
            <a:schemeClr val="tx1"/>
          </a:solid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 userDrawn="1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 userDrawn="1">
          <p15:clr>
            <a:srgbClr val="5ACBF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7" name="Picture 6" descr="A close up of a colorful paper&#10;&#10;Description automatically generated">
            <a:extLst>
              <a:ext uri="{FF2B5EF4-FFF2-40B4-BE49-F238E27FC236}">
                <a16:creationId xmlns:a16="http://schemas.microsoft.com/office/drawing/2014/main" id="{8111608B-3482-A33C-BA63-70C5869A2A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7513" r="16269"/>
          <a:stretch/>
        </p:blipFill>
        <p:spPr>
          <a:xfrm>
            <a:off x="5334001" y="0"/>
            <a:ext cx="6858000" cy="686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41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 userDrawn="1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 userDrawn="1">
          <p15:clr>
            <a:srgbClr val="5ACBF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7" name="Picture 6" descr="A close-up of a spiral&#10;&#10;Description automatically generated">
            <a:extLst>
              <a:ext uri="{FF2B5EF4-FFF2-40B4-BE49-F238E27FC236}">
                <a16:creationId xmlns:a16="http://schemas.microsoft.com/office/drawing/2014/main" id="{E55942A3-1191-828A-7445-B577CE3F52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8707" t="12025" r="28707" b="12025"/>
          <a:stretch/>
        </p:blipFill>
        <p:spPr>
          <a:xfrm>
            <a:off x="5334000" y="1"/>
            <a:ext cx="6858000" cy="688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balloon&#10;&#10;Description automatically generated">
            <a:extLst>
              <a:ext uri="{FF2B5EF4-FFF2-40B4-BE49-F238E27FC236}">
                <a16:creationId xmlns:a16="http://schemas.microsoft.com/office/drawing/2014/main" id="{48D4A50E-8413-D890-671C-B4A6F35C81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0886" r="4820" b="3486"/>
          <a:stretch/>
        </p:blipFill>
        <p:spPr>
          <a:xfrm>
            <a:off x="5334000" y="0"/>
            <a:ext cx="685323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09319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 userDrawn="1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0361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 userDrawn="1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9290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 userDrawn="1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7984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 userDrawn="1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7F3A8B6-B05A-B07A-CABF-0269F1025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7850" y="588962"/>
            <a:ext cx="11036300" cy="5680076"/>
          </a:xfrm>
          <a:prstGeom prst="roundRect">
            <a:avLst>
              <a:gd name="adj" fmla="val 0"/>
            </a:avLst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50"/>
                      </a14:imgEffect>
                      <a14:imgEffect>
                        <a14:brightnessContrast bright="5000"/>
                      </a14:imgEffect>
                    </a14:imgLayer>
                  </a14:imgProps>
                </a:ext>
              </a:extLst>
            </a:blip>
            <a:srcRect/>
            <a:stretch>
              <a:fillRect l="-5236" t="-10428" r="-5236" b="-10428"/>
            </a:stretch>
          </a:blipFill>
          <a:ln w="12700">
            <a:miter lim="400000"/>
          </a:ln>
        </p:spPr>
        <p:txBody>
          <a:bodyPr lIns="146304" tIns="146304" rIns="146304" bIns="146304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FBC87E-4CC9-0F44-6DF9-7F6E2A04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32" y="1008742"/>
            <a:ext cx="10363918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155222B-26E4-2F43-D7F5-FC045289128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3382" y="2017712"/>
            <a:ext cx="10364218" cy="425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9DBCD25-6DFA-052F-4ED9-1E8C8737F9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3532" y="843642"/>
            <a:ext cx="10363918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6338051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 userDrawn="1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Graphic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B3C68CB-E8AC-6234-9427-2A6673D17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7850" y="588962"/>
            <a:ext cx="11036300" cy="5680076"/>
          </a:xfrm>
          <a:prstGeom prst="roundRect">
            <a:avLst>
              <a:gd name="adj" fmla="val 0"/>
            </a:avLst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50"/>
                      </a14:imgEffect>
                      <a14:imgEffect>
                        <a14:brightnessContrast bright="5000"/>
                      </a14:imgEffect>
                    </a14:imgLayer>
                  </a14:imgProps>
                </a:ext>
              </a:extLst>
            </a:blip>
            <a:srcRect/>
            <a:stretch>
              <a:fillRect l="-5236" t="-10489" r="-5236" b="-10489"/>
            </a:stretch>
          </a:blipFill>
          <a:ln w="12700">
            <a:miter lim="400000"/>
          </a:ln>
        </p:spPr>
        <p:txBody>
          <a:bodyPr lIns="146304" tIns="146304" rIns="146304" bIns="146304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AD825C2-7FF1-3371-96A7-47B94663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32" y="1008742"/>
            <a:ext cx="10363918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FB201-BF2E-7E3A-CE08-CB33082FCE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3382" y="2017712"/>
            <a:ext cx="10364218" cy="425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3B56F-81D2-3B74-659E-75EE6D1D48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3532" y="843642"/>
            <a:ext cx="10363918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050273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 userDrawn="1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Graphic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01CB1A7-0196-21A7-109B-54CA161EB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7850" y="588962"/>
            <a:ext cx="11036300" cy="5680076"/>
          </a:xfrm>
          <a:prstGeom prst="roundRect">
            <a:avLst>
              <a:gd name="adj" fmla="val 0"/>
            </a:avLst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50"/>
                      </a14:imgEffect>
                      <a14:imgEffect>
                        <a14:brightnessContrast bright="5000"/>
                      </a14:imgEffect>
                    </a14:imgLayer>
                  </a14:imgProps>
                </a:ext>
              </a:extLst>
            </a:blip>
            <a:srcRect/>
            <a:stretch>
              <a:fillRect l="-5278" t="-10369" r="-5280" b="-10367"/>
            </a:stretch>
          </a:blipFill>
          <a:ln w="12700">
            <a:miter lim="400000"/>
          </a:ln>
        </p:spPr>
        <p:txBody>
          <a:bodyPr lIns="146304" tIns="146304" rIns="146304" bIns="146304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A31E95-ADF9-9E3F-1324-0D2A40C31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32" y="1008742"/>
            <a:ext cx="10363918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F23D6-B0F2-95EC-6A60-E33F63B039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3382" y="2017712"/>
            <a:ext cx="10364218" cy="425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A9544-8C8F-F52A-1876-F01F4D091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3532" y="843642"/>
            <a:ext cx="10363918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4701135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 userDrawn="1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Numb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7E7BF5F9-B624-30C1-5E2D-86E1159F8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44600" y="1054100"/>
            <a:ext cx="9702800" cy="4749800"/>
          </a:xfrm>
          <a:prstGeom prst="roundRect">
            <a:avLst>
              <a:gd name="adj" fmla="val 0"/>
            </a:avLst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50"/>
                      </a14:imgEffect>
                      <a14:imgEffect>
                        <a14:brightnessContrast bright="5000"/>
                      </a14:imgEffect>
                    </a14:imgLayer>
                  </a14:imgProps>
                </a:ext>
              </a:extLst>
            </a:blip>
            <a:srcRect/>
            <a:stretch>
              <a:fillRect l="-12828" t="-22194" r="-12766" b="-22264"/>
            </a:stretch>
          </a:blipFill>
          <a:ln w="12700">
            <a:miter lim="400000"/>
          </a:ln>
        </p:spPr>
        <p:txBody>
          <a:bodyPr lIns="146304" tIns="146304" rIns="146304" bIns="146304"/>
          <a:lstStyle/>
          <a:p>
            <a:pPr lvl="0"/>
            <a:endParaRPr>
              <a:solidFill>
                <a:srgbClr val="FFFFFF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53C62E-72E5-F065-0EA5-5455A61A1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7823" y="1778853"/>
            <a:ext cx="7896354" cy="2462213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6000">
                <a:latin typeface="+mn-lt"/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1FDE9D-CE47-EE58-DDEB-A4E2C9956F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300" y="4253885"/>
            <a:ext cx="7899400" cy="246221"/>
          </a:xfrm>
        </p:spPr>
        <p:txBody>
          <a:bodyPr/>
          <a:lstStyle>
            <a:lvl1pPr marL="0" indent="0" algn="ctr">
              <a:buNone/>
              <a:defRPr sz="16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subtext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83921F1-D334-EC88-D639-C6492418B9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46300" y="5384185"/>
            <a:ext cx="7899400" cy="153888"/>
          </a:xfrm>
        </p:spPr>
        <p:txBody>
          <a:bodyPr/>
          <a:lstStyle>
            <a:lvl1pPr marL="0" indent="0" algn="ctr">
              <a:buNone/>
              <a:defRPr sz="10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footer style</a:t>
            </a:r>
          </a:p>
        </p:txBody>
      </p:sp>
    </p:spTree>
    <p:extLst>
      <p:ext uri="{BB962C8B-B14F-4D97-AF65-F5344CB8AC3E}">
        <p14:creationId xmlns:p14="http://schemas.microsoft.com/office/powerpoint/2010/main" val="33435322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 userDrawn="1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888" userDrawn="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Numb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39D28D6-D56F-E6D2-BC50-420DBCB49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44600" y="1054100"/>
            <a:ext cx="9702800" cy="4749800"/>
          </a:xfrm>
          <a:prstGeom prst="roundRect">
            <a:avLst>
              <a:gd name="adj" fmla="val 0"/>
            </a:avLst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50"/>
                      </a14:imgEffect>
                      <a14:imgEffect>
                        <a14:brightnessContrast bright="5000"/>
                      </a14:imgEffect>
                    </a14:imgLayer>
                  </a14:imgProps>
                </a:ext>
              </a:extLst>
            </a:blip>
            <a:srcRect/>
            <a:stretch>
              <a:fillRect l="-12828" t="-22192" r="-12701" b="-22338"/>
            </a:stretch>
          </a:blipFill>
          <a:ln w="12700">
            <a:miter lim="400000"/>
          </a:ln>
        </p:spPr>
        <p:txBody>
          <a:bodyPr lIns="146304" tIns="146304" rIns="146304" bIns="146304"/>
          <a:lstStyle/>
          <a:p>
            <a:pPr lvl="0"/>
            <a:endParaRPr>
              <a:solidFill>
                <a:srgbClr val="FFFFFF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CD05008-D889-2657-9E64-AE1A68432B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7823" y="1778853"/>
            <a:ext cx="7896354" cy="2462213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6000">
                <a:latin typeface="+mn-lt"/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90B9417-A140-ED0E-9B15-EC46E43520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300" y="4253885"/>
            <a:ext cx="7899400" cy="246221"/>
          </a:xfrm>
        </p:spPr>
        <p:txBody>
          <a:bodyPr/>
          <a:lstStyle>
            <a:lvl1pPr marL="0" indent="0" algn="ctr">
              <a:buNone/>
              <a:defRPr sz="16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subtext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E6AC568-C052-9C82-938A-92DB6B485D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46300" y="5384185"/>
            <a:ext cx="7899400" cy="153888"/>
          </a:xfrm>
        </p:spPr>
        <p:txBody>
          <a:bodyPr/>
          <a:lstStyle>
            <a:lvl1pPr marL="0" indent="0" algn="ctr">
              <a:buNone/>
              <a:defRPr sz="10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footer style</a:t>
            </a:r>
          </a:p>
        </p:txBody>
      </p:sp>
    </p:spTree>
    <p:extLst>
      <p:ext uri="{BB962C8B-B14F-4D97-AF65-F5344CB8AC3E}">
        <p14:creationId xmlns:p14="http://schemas.microsoft.com/office/powerpoint/2010/main" val="3213865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Numb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85BCF97B-C514-32AB-3E25-432060F90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44600" y="1054100"/>
            <a:ext cx="9702800" cy="4749800"/>
          </a:xfrm>
          <a:prstGeom prst="roundRect">
            <a:avLst>
              <a:gd name="adj" fmla="val 0"/>
            </a:avLst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50"/>
                      </a14:imgEffect>
                      <a14:imgEffect>
                        <a14:brightnessContrast bright="5000"/>
                      </a14:imgEffect>
                    </a14:imgLayer>
                  </a14:imgProps>
                </a:ext>
              </a:extLst>
            </a:blip>
            <a:srcRect/>
            <a:stretch>
              <a:fillRect l="-12876" t="-22193" r="-12876" b="-22193"/>
            </a:stretch>
          </a:blipFill>
          <a:ln w="12700">
            <a:miter lim="400000"/>
          </a:ln>
        </p:spPr>
        <p:txBody>
          <a:bodyPr lIns="146304" tIns="146304" rIns="146304" bIns="146304"/>
          <a:lstStyle/>
          <a:p>
            <a:pPr lvl="0"/>
            <a:endParaRPr>
              <a:solidFill>
                <a:srgbClr val="FFFFFF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1F03AAB-35E4-75D5-BC32-B2CE3D936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7823" y="1778853"/>
            <a:ext cx="7896354" cy="2462213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6000">
                <a:latin typeface="+mn-lt"/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D1F2F5D4-3A80-B49A-353F-38D18DF589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300" y="4253885"/>
            <a:ext cx="7899400" cy="246221"/>
          </a:xfrm>
        </p:spPr>
        <p:txBody>
          <a:bodyPr/>
          <a:lstStyle>
            <a:lvl1pPr marL="0" indent="0" algn="ctr">
              <a:buNone/>
              <a:defRPr sz="16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subtext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7DA8D6A-DC14-6890-FE2C-FDB67210F3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46300" y="5384185"/>
            <a:ext cx="7899400" cy="153888"/>
          </a:xfrm>
        </p:spPr>
        <p:txBody>
          <a:bodyPr/>
          <a:lstStyle>
            <a:lvl1pPr marL="0" indent="0" algn="ctr">
              <a:buNone/>
              <a:defRPr sz="10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footer style</a:t>
            </a:r>
          </a:p>
        </p:txBody>
      </p:sp>
    </p:spTree>
    <p:extLst>
      <p:ext uri="{BB962C8B-B14F-4D97-AF65-F5344CB8AC3E}">
        <p14:creationId xmlns:p14="http://schemas.microsoft.com/office/powerpoint/2010/main" val="20960829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6A32330E-3D85-1BFF-842E-A87E2D3F3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2700" y="0"/>
            <a:ext cx="5029200" cy="6867724"/>
          </a:xfrm>
          <a:prstGeom prst="rect">
            <a:avLst/>
          </a:prstGeom>
          <a:solidFill>
            <a:srgbClr val="E1D3C7"/>
          </a:solidFill>
          <a:ln w="12700">
            <a:miter lim="400000"/>
          </a:ln>
        </p:spPr>
        <p:txBody>
          <a:bodyPr lIns="146304" tIns="146304" rIns="146304" bIns="146304"/>
          <a:lstStyle/>
          <a:p>
            <a:pPr marR="0" lvl="0" indent="0" defTabSz="914366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sz="17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7EB123-B336-56F7-07B9-7157FE92A3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1943" y="3121223"/>
            <a:ext cx="5958557" cy="307777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r>
              <a:rPr lang="en-US"/>
              <a:t>Click to edit quote style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E6A7863-B7CC-B4F0-9AA8-18694E1E1B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2614" y="2324775"/>
            <a:ext cx="564016" cy="578416"/>
          </a:xfrm>
        </p:spPr>
        <p:txBody>
          <a:bodyPr>
            <a:noAutofit/>
          </a:bodyPr>
          <a:lstStyle>
            <a:lvl1pPr marL="0" indent="0">
              <a:buNone/>
              <a:defRPr sz="8000">
                <a:latin typeface="+mj-lt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7E51B3-B187-5510-113C-862CE543F9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62613" y="3647032"/>
            <a:ext cx="5957887" cy="246221"/>
          </a:xfrm>
        </p:spPr>
        <p:txBody>
          <a:bodyPr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/>
              <a:t>Quote author, Title, Organization</a:t>
            </a:r>
          </a:p>
        </p:txBody>
      </p:sp>
      <p:sp>
        <p:nvSpPr>
          <p:cNvPr id="16" name="Picture Placeholder 15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1264862-2FE4-290E-0B40-0D54CC25E53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1500" y="1371600"/>
            <a:ext cx="4445000" cy="5486400"/>
          </a:xfrm>
          <a:custGeom>
            <a:avLst/>
            <a:gdLst>
              <a:gd name="connsiteX0" fmla="*/ 3530600 w 4445000"/>
              <a:gd name="connsiteY0" fmla="*/ 0 h 5486400"/>
              <a:gd name="connsiteX1" fmla="*/ 4445000 w 4445000"/>
              <a:gd name="connsiteY1" fmla="*/ 0 h 5486400"/>
              <a:gd name="connsiteX2" fmla="*/ 4445000 w 4445000"/>
              <a:gd name="connsiteY2" fmla="*/ 5486400 h 5486400"/>
              <a:gd name="connsiteX3" fmla="*/ 0 w 4445000"/>
              <a:gd name="connsiteY3" fmla="*/ 5486400 h 5486400"/>
              <a:gd name="connsiteX4" fmla="*/ 0 w 4445000"/>
              <a:gd name="connsiteY4" fmla="*/ 1042988 h 5486400"/>
              <a:gd name="connsiteX5" fmla="*/ 3530600 w 4445000"/>
              <a:gd name="connsiteY5" fmla="*/ 1042988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5000" h="5486400">
                <a:moveTo>
                  <a:pt x="3530600" y="0"/>
                </a:moveTo>
                <a:lnTo>
                  <a:pt x="4445000" y="0"/>
                </a:lnTo>
                <a:lnTo>
                  <a:pt x="4445000" y="5486400"/>
                </a:lnTo>
                <a:lnTo>
                  <a:pt x="0" y="5486400"/>
                </a:lnTo>
                <a:lnTo>
                  <a:pt x="0" y="1042988"/>
                </a:lnTo>
                <a:lnTo>
                  <a:pt x="3530600" y="1042988"/>
                </a:lnTo>
                <a:close/>
              </a:path>
            </a:pathLst>
          </a:custGeom>
          <a:solidFill>
            <a:schemeClr val="tx1"/>
          </a:solidFill>
        </p:spPr>
        <p:txBody>
          <a:bodyPr vert="horz" wrap="square" lIns="0" tIns="1828800" rIns="0" bIns="0" rtlCol="0" anchor="t" anchorCtr="0">
            <a:noAutofit/>
          </a:bodyPr>
          <a:lstStyle>
            <a:lvl1pPr marL="0" indent="0" algn="ctr">
              <a:buNone/>
              <a:defRPr lang="en-US"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6CBB78EA-B6AB-046F-E459-66F99F6F9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-12700" y="58578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indent="139700" defTabSz="932741">
              <a:lnSpc>
                <a:spcPts val="6400"/>
              </a:lnSpc>
              <a:defRPr sz="5600" spc="-350">
                <a:solidFill>
                  <a:srgbClr val="FFFFFF"/>
                </a:solidFill>
                <a:latin typeface="Segoe UI Semilight"/>
                <a:ea typeface="Segoe UI Semilight"/>
                <a:cs typeface="Segoe UI Semilight"/>
                <a:sym typeface="Segoe UI Semiligh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23448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528" userDrawn="1">
          <p15:clr>
            <a:srgbClr val="FBAE40"/>
          </p15:clr>
        </p15:guide>
        <p15:guide id="3" pos="3168" userDrawn="1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Sans Display" pitchFamily="2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Sans Display" pitchFamily="2" charset="0"/>
                <a:ea typeface="Segoe Sans Display" pitchFamily="2" charset="0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Sans Display" pitchFamily="2" charset="0"/>
                <a:ea typeface="Segoe Sans Display" pitchFamily="2" charset="0"/>
                <a:cs typeface="Segoe Sans Display" pitchFamily="2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6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4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7.xml"/><Relationship Id="rId8" Type="http://schemas.openxmlformats.org/officeDocument/2006/relationships/slideLayout" Target="../slideLayouts/slideLayout57.xml"/><Relationship Id="rId51" Type="http://schemas.openxmlformats.org/officeDocument/2006/relationships/image" Target="../media/image1.svg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19.xml"/><Relationship Id="rId34" Type="http://schemas.openxmlformats.org/officeDocument/2006/relationships/slideLayout" Target="../slideLayouts/slideLayout132.xml"/><Relationship Id="rId42" Type="http://schemas.openxmlformats.org/officeDocument/2006/relationships/slideLayout" Target="../slideLayouts/slideLayout140.xml"/><Relationship Id="rId47" Type="http://schemas.openxmlformats.org/officeDocument/2006/relationships/slideLayout" Target="../slideLayouts/slideLayout145.xml"/><Relationship Id="rId50" Type="http://schemas.openxmlformats.org/officeDocument/2006/relationships/slideLayout" Target="../slideLayouts/slideLayout148.xml"/><Relationship Id="rId55" Type="http://schemas.openxmlformats.org/officeDocument/2006/relationships/slideLayout" Target="../slideLayouts/slideLayout153.xml"/><Relationship Id="rId63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14.xml"/><Relationship Id="rId29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09.xml"/><Relationship Id="rId24" Type="http://schemas.openxmlformats.org/officeDocument/2006/relationships/slideLayout" Target="../slideLayouts/slideLayout122.xml"/><Relationship Id="rId32" Type="http://schemas.openxmlformats.org/officeDocument/2006/relationships/slideLayout" Target="../slideLayouts/slideLayout130.xml"/><Relationship Id="rId37" Type="http://schemas.openxmlformats.org/officeDocument/2006/relationships/slideLayout" Target="../slideLayouts/slideLayout135.xml"/><Relationship Id="rId40" Type="http://schemas.openxmlformats.org/officeDocument/2006/relationships/slideLayout" Target="../slideLayouts/slideLayout138.xml"/><Relationship Id="rId45" Type="http://schemas.openxmlformats.org/officeDocument/2006/relationships/slideLayout" Target="../slideLayouts/slideLayout143.xml"/><Relationship Id="rId53" Type="http://schemas.openxmlformats.org/officeDocument/2006/relationships/slideLayout" Target="../slideLayouts/slideLayout151.xml"/><Relationship Id="rId58" Type="http://schemas.openxmlformats.org/officeDocument/2006/relationships/slideLayout" Target="../slideLayouts/slideLayout156.xml"/><Relationship Id="rId66" Type="http://schemas.openxmlformats.org/officeDocument/2006/relationships/theme" Target="../theme/theme3.xml"/><Relationship Id="rId5" Type="http://schemas.openxmlformats.org/officeDocument/2006/relationships/slideLayout" Target="../slideLayouts/slideLayout103.xml"/><Relationship Id="rId61" Type="http://schemas.openxmlformats.org/officeDocument/2006/relationships/slideLayout" Target="../slideLayouts/slideLayout159.xml"/><Relationship Id="rId19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2.xml"/><Relationship Id="rId22" Type="http://schemas.openxmlformats.org/officeDocument/2006/relationships/slideLayout" Target="../slideLayouts/slideLayout120.xml"/><Relationship Id="rId27" Type="http://schemas.openxmlformats.org/officeDocument/2006/relationships/slideLayout" Target="../slideLayouts/slideLayout125.xml"/><Relationship Id="rId30" Type="http://schemas.openxmlformats.org/officeDocument/2006/relationships/slideLayout" Target="../slideLayouts/slideLayout128.xml"/><Relationship Id="rId35" Type="http://schemas.openxmlformats.org/officeDocument/2006/relationships/slideLayout" Target="../slideLayouts/slideLayout133.xml"/><Relationship Id="rId43" Type="http://schemas.openxmlformats.org/officeDocument/2006/relationships/slideLayout" Target="../slideLayouts/slideLayout141.xml"/><Relationship Id="rId48" Type="http://schemas.openxmlformats.org/officeDocument/2006/relationships/slideLayout" Target="../slideLayouts/slideLayout146.xml"/><Relationship Id="rId56" Type="http://schemas.openxmlformats.org/officeDocument/2006/relationships/slideLayout" Target="../slideLayouts/slideLayout154.xml"/><Relationship Id="rId64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06.xml"/><Relationship Id="rId51" Type="http://schemas.openxmlformats.org/officeDocument/2006/relationships/slideLayout" Target="../slideLayouts/slideLayout149.xml"/><Relationship Id="rId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5.xml"/><Relationship Id="rId25" Type="http://schemas.openxmlformats.org/officeDocument/2006/relationships/slideLayout" Target="../slideLayouts/slideLayout123.xml"/><Relationship Id="rId33" Type="http://schemas.openxmlformats.org/officeDocument/2006/relationships/slideLayout" Target="../slideLayouts/slideLayout131.xml"/><Relationship Id="rId38" Type="http://schemas.openxmlformats.org/officeDocument/2006/relationships/slideLayout" Target="../slideLayouts/slideLayout136.xml"/><Relationship Id="rId46" Type="http://schemas.openxmlformats.org/officeDocument/2006/relationships/slideLayout" Target="../slideLayouts/slideLayout144.xml"/><Relationship Id="rId59" Type="http://schemas.openxmlformats.org/officeDocument/2006/relationships/slideLayout" Target="../slideLayouts/slideLayout157.xml"/><Relationship Id="rId67" Type="http://schemas.openxmlformats.org/officeDocument/2006/relationships/image" Target="../media/image1.svg"/><Relationship Id="rId20" Type="http://schemas.openxmlformats.org/officeDocument/2006/relationships/slideLayout" Target="../slideLayouts/slideLayout118.xml"/><Relationship Id="rId41" Type="http://schemas.openxmlformats.org/officeDocument/2006/relationships/slideLayout" Target="../slideLayouts/slideLayout139.xml"/><Relationship Id="rId54" Type="http://schemas.openxmlformats.org/officeDocument/2006/relationships/slideLayout" Target="../slideLayouts/slideLayout152.xml"/><Relationship Id="rId6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13.xml"/><Relationship Id="rId23" Type="http://schemas.openxmlformats.org/officeDocument/2006/relationships/slideLayout" Target="../slideLayouts/slideLayout121.xml"/><Relationship Id="rId28" Type="http://schemas.openxmlformats.org/officeDocument/2006/relationships/slideLayout" Target="../slideLayouts/slideLayout126.xml"/><Relationship Id="rId36" Type="http://schemas.openxmlformats.org/officeDocument/2006/relationships/slideLayout" Target="../slideLayouts/slideLayout134.xml"/><Relationship Id="rId49" Type="http://schemas.openxmlformats.org/officeDocument/2006/relationships/slideLayout" Target="../slideLayouts/slideLayout147.xml"/><Relationship Id="rId57" Type="http://schemas.openxmlformats.org/officeDocument/2006/relationships/slideLayout" Target="../slideLayouts/slideLayout155.xml"/><Relationship Id="rId10" Type="http://schemas.openxmlformats.org/officeDocument/2006/relationships/slideLayout" Target="../slideLayouts/slideLayout108.xml"/><Relationship Id="rId31" Type="http://schemas.openxmlformats.org/officeDocument/2006/relationships/slideLayout" Target="../slideLayouts/slideLayout129.xml"/><Relationship Id="rId44" Type="http://schemas.openxmlformats.org/officeDocument/2006/relationships/slideLayout" Target="../slideLayouts/slideLayout142.xml"/><Relationship Id="rId52" Type="http://schemas.openxmlformats.org/officeDocument/2006/relationships/slideLayout" Target="../slideLayouts/slideLayout150.xml"/><Relationship Id="rId60" Type="http://schemas.openxmlformats.org/officeDocument/2006/relationships/slideLayout" Target="../slideLayouts/slideLayout158.xml"/><Relationship Id="rId65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11.xml"/><Relationship Id="rId18" Type="http://schemas.openxmlformats.org/officeDocument/2006/relationships/slideLayout" Target="../slideLayouts/slideLayout116.xml"/><Relationship Id="rId39" Type="http://schemas.openxmlformats.org/officeDocument/2006/relationships/slideLayout" Target="../slideLayouts/slideLayout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67" r:id="rId19"/>
    <p:sldLayoutId id="2147485468" r:id="rId20"/>
    <p:sldLayoutId id="2147485469" r:id="rId21"/>
    <p:sldLayoutId id="2147485470" r:id="rId22"/>
    <p:sldLayoutId id="2147485471" r:id="rId23"/>
    <p:sldLayoutId id="2147485472" r:id="rId24"/>
    <p:sldLayoutId id="2147485473" r:id="rId25"/>
    <p:sldLayoutId id="2147485474" r:id="rId26"/>
    <p:sldLayoutId id="2147485475" r:id="rId27"/>
    <p:sldLayoutId id="2147485476" r:id="rId28"/>
    <p:sldLayoutId id="2147485477" r:id="rId29"/>
    <p:sldLayoutId id="2147485478" r:id="rId30"/>
    <p:sldLayoutId id="2147485479" r:id="rId31"/>
    <p:sldLayoutId id="2147485480" r:id="rId32"/>
    <p:sldLayoutId id="2147485481" r:id="rId33"/>
    <p:sldLayoutId id="2147485482" r:id="rId34"/>
    <p:sldLayoutId id="2147485483" r:id="rId35"/>
    <p:sldLayoutId id="2147485484" r:id="rId36"/>
    <p:sldLayoutId id="2147485485" r:id="rId37"/>
    <p:sldLayoutId id="2147485486" r:id="rId38"/>
    <p:sldLayoutId id="2147485487" r:id="rId39"/>
    <p:sldLayoutId id="2147485488" r:id="rId40"/>
    <p:sldLayoutId id="2147485489" r:id="rId41"/>
    <p:sldLayoutId id="2147485490" r:id="rId42"/>
    <p:sldLayoutId id="2147485491" r:id="rId43"/>
    <p:sldLayoutId id="2147485492" r:id="rId44"/>
    <p:sldLayoutId id="2147485493" r:id="rId45"/>
    <p:sldLayoutId id="2147485494" r:id="rId46"/>
    <p:sldLayoutId id="2147485495" r:id="rId47"/>
    <p:sldLayoutId id="2147485496" r:id="rId48"/>
    <p:sldLayoutId id="2147485603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8" r:id="rId6"/>
    <p:sldLayoutId id="2147485559" r:id="rId7"/>
    <p:sldLayoutId id="2147485560" r:id="rId8"/>
    <p:sldLayoutId id="2147485561" r:id="rId9"/>
    <p:sldLayoutId id="2147485562" r:id="rId10"/>
    <p:sldLayoutId id="2147485563" r:id="rId11"/>
    <p:sldLayoutId id="2147485564" r:id="rId12"/>
    <p:sldLayoutId id="2147485565" r:id="rId13"/>
    <p:sldLayoutId id="2147485566" r:id="rId14"/>
    <p:sldLayoutId id="2147485567" r:id="rId15"/>
    <p:sldLayoutId id="2147485568" r:id="rId16"/>
    <p:sldLayoutId id="2147485569" r:id="rId17"/>
    <p:sldLayoutId id="2147485570" r:id="rId18"/>
    <p:sldLayoutId id="2147485571" r:id="rId19"/>
    <p:sldLayoutId id="2147485572" r:id="rId20"/>
    <p:sldLayoutId id="2147485573" r:id="rId21"/>
    <p:sldLayoutId id="2147485574" r:id="rId22"/>
    <p:sldLayoutId id="2147485575" r:id="rId23"/>
    <p:sldLayoutId id="2147485576" r:id="rId24"/>
    <p:sldLayoutId id="2147485577" r:id="rId25"/>
    <p:sldLayoutId id="2147485578" r:id="rId26"/>
    <p:sldLayoutId id="2147485579" r:id="rId27"/>
    <p:sldLayoutId id="2147485580" r:id="rId28"/>
    <p:sldLayoutId id="2147485581" r:id="rId29"/>
    <p:sldLayoutId id="2147485582" r:id="rId30"/>
    <p:sldLayoutId id="2147485583" r:id="rId31"/>
    <p:sldLayoutId id="2147485584" r:id="rId32"/>
    <p:sldLayoutId id="2147485585" r:id="rId33"/>
    <p:sldLayoutId id="2147485586" r:id="rId34"/>
    <p:sldLayoutId id="2147485587" r:id="rId35"/>
    <p:sldLayoutId id="2147485588" r:id="rId36"/>
    <p:sldLayoutId id="2147485589" r:id="rId37"/>
    <p:sldLayoutId id="2147485590" r:id="rId38"/>
    <p:sldLayoutId id="2147485591" r:id="rId39"/>
    <p:sldLayoutId id="2147485592" r:id="rId40"/>
    <p:sldLayoutId id="2147485593" r:id="rId41"/>
    <p:sldLayoutId id="2147485594" r:id="rId42"/>
    <p:sldLayoutId id="2147485595" r:id="rId43"/>
    <p:sldLayoutId id="2147485596" r:id="rId44"/>
    <p:sldLayoutId id="2147485597" r:id="rId45"/>
    <p:sldLayoutId id="2147485598" r:id="rId46"/>
    <p:sldLayoutId id="2147485599" r:id="rId47"/>
    <p:sldLayoutId id="2147485600" r:id="rId48"/>
    <p:sldLayoutId id="2147485602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9" r:id="rId1"/>
    <p:sldLayoutId id="2147485497" r:id="rId2"/>
    <p:sldLayoutId id="2147485498" r:id="rId3"/>
    <p:sldLayoutId id="2147485610" r:id="rId4"/>
    <p:sldLayoutId id="2147485611" r:id="rId5"/>
    <p:sldLayoutId id="2147485612" r:id="rId6"/>
    <p:sldLayoutId id="2147485613" r:id="rId7"/>
    <p:sldLayoutId id="2147485614" r:id="rId8"/>
    <p:sldLayoutId id="2147485615" r:id="rId9"/>
    <p:sldLayoutId id="2147485616" r:id="rId10"/>
    <p:sldLayoutId id="2147485617" r:id="rId11"/>
    <p:sldLayoutId id="2147485618" r:id="rId12"/>
    <p:sldLayoutId id="2147485619" r:id="rId13"/>
    <p:sldLayoutId id="2147485620" r:id="rId14"/>
    <p:sldLayoutId id="2147485621" r:id="rId15"/>
    <p:sldLayoutId id="2147485516" r:id="rId16"/>
    <p:sldLayoutId id="2147485517" r:id="rId17"/>
    <p:sldLayoutId id="2147485514" r:id="rId18"/>
    <p:sldLayoutId id="2147485515" r:id="rId19"/>
    <p:sldLayoutId id="2147485511" r:id="rId20"/>
    <p:sldLayoutId id="2147485512" r:id="rId21"/>
    <p:sldLayoutId id="2147485513" r:id="rId22"/>
    <p:sldLayoutId id="2147485622" r:id="rId23"/>
    <p:sldLayoutId id="2147485623" r:id="rId24"/>
    <p:sldLayoutId id="2147485624" r:id="rId25"/>
    <p:sldLayoutId id="2147485625" r:id="rId26"/>
    <p:sldLayoutId id="2147485626" r:id="rId27"/>
    <p:sldLayoutId id="2147485627" r:id="rId28"/>
    <p:sldLayoutId id="2147485628" r:id="rId29"/>
    <p:sldLayoutId id="2147485629" r:id="rId30"/>
    <p:sldLayoutId id="2147485630" r:id="rId31"/>
    <p:sldLayoutId id="2147485631" r:id="rId32"/>
    <p:sldLayoutId id="2147485632" r:id="rId33"/>
    <p:sldLayoutId id="2147485633" r:id="rId34"/>
    <p:sldLayoutId id="2147485634" r:id="rId35"/>
    <p:sldLayoutId id="2147485635" r:id="rId36"/>
    <p:sldLayoutId id="2147485636" r:id="rId37"/>
    <p:sldLayoutId id="2147485637" r:id="rId38"/>
    <p:sldLayoutId id="2147485638" r:id="rId39"/>
    <p:sldLayoutId id="2147485639" r:id="rId40"/>
    <p:sldLayoutId id="2147485640" r:id="rId41"/>
    <p:sldLayoutId id="2147485641" r:id="rId42"/>
    <p:sldLayoutId id="2147485642" r:id="rId43"/>
    <p:sldLayoutId id="2147485643" r:id="rId44"/>
    <p:sldLayoutId id="2147485644" r:id="rId45"/>
    <p:sldLayoutId id="2147485499" r:id="rId46"/>
    <p:sldLayoutId id="2147485501" r:id="rId47"/>
    <p:sldLayoutId id="2147485503" r:id="rId48"/>
    <p:sldLayoutId id="2147485645" r:id="rId49"/>
    <p:sldLayoutId id="2147485500" r:id="rId50"/>
    <p:sldLayoutId id="2147485502" r:id="rId51"/>
    <p:sldLayoutId id="2147485504" r:id="rId52"/>
    <p:sldLayoutId id="2147485646" r:id="rId53"/>
    <p:sldLayoutId id="2147485505" r:id="rId54"/>
    <p:sldLayoutId id="2147485506" r:id="rId55"/>
    <p:sldLayoutId id="2147485507" r:id="rId56"/>
    <p:sldLayoutId id="2147485519" r:id="rId57"/>
    <p:sldLayoutId id="2147485520" r:id="rId58"/>
    <p:sldLayoutId id="2147485521" r:id="rId59"/>
    <p:sldLayoutId id="2147485508" r:id="rId60"/>
    <p:sldLayoutId id="2147485509" r:id="rId61"/>
    <p:sldLayoutId id="2147485510" r:id="rId62"/>
    <p:sldLayoutId id="2147485522" r:id="rId63"/>
    <p:sldLayoutId id="2147485647" r:id="rId64"/>
    <p:sldLayoutId id="2147485648" r:id="rId65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Sans Display" pitchFamily="2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Sans Display" pitchFamily="2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 userDrawn="1">
          <p15:clr>
            <a:srgbClr val="C35EA4"/>
          </p15:clr>
        </p15:guide>
        <p15:guide id="17" pos="7320" userDrawn="1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8" pos="192" userDrawn="1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 userDrawn="1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9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09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09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8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6.xml"/><Relationship Id="rId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11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09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09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9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0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0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A3C44-4A24-B34B-AAC4-8A18C9721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5F5356-DFA4-5AAF-AEAC-4805CC08C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448439"/>
            <a:ext cx="9144000" cy="615553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企业 AI 化转型实战 · AI Company</a:t>
            </a:r>
            <a:endParaRPr lang="en-US">
              <a:solidFill>
                <a:schemeClr val="accent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96ADE-86E3-604B-7713-FC835A0752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1312" y="3962400"/>
            <a:ext cx="9144000" cy="492443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从本体到上云，三小时走完全程</a:t>
            </a:r>
            <a:endParaRPr lang="en-US" altLang="zh-CN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Microsoft Fabric IQ · MCP · Agent Framework · AKS</a:t>
            </a:r>
          </a:p>
        </p:txBody>
      </p:sp>
    </p:spTree>
    <p:extLst>
      <p:ext uri="{BB962C8B-B14F-4D97-AF65-F5344CB8AC3E}">
        <p14:creationId xmlns:p14="http://schemas.microsoft.com/office/powerpoint/2010/main" val="84306678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4024D-F756-536D-A9F5-5E17E609C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6DEF2-FB0A-82AB-89DE-1C548D9C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课程目录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A2612-92B7-33B7-D81B-38C531FBFE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96696" y="2020824"/>
            <a:ext cx="10360152" cy="3291840"/>
          </a:xfrm>
        </p:spPr>
        <p:txBody>
          <a:bodyPr/>
          <a:lstStyle/>
          <a:p>
            <a:pPr marL="0" indent="0">
              <a:spcBef>
                <a:spcPts val="800"/>
              </a:spcBef>
              <a:buNone/>
            </a:pPr>
            <a:r>
              <a:rPr lang="zh-CN" altLang="en-US" sz="2000">
                <a:ea typeface="Microsoft YaHei" panose="020B0503020204020204" pitchFamily="34" charset="-122"/>
              </a:rPr>
              <a:t>01   培训总纲 · 180 分钟怎么用</a:t>
            </a:r>
            <a:endParaRPr lang="en-US" sz="2000">
              <a:ea typeface="Microsoft YaHei" panose="020B0503020204020204" pitchFamily="34" charset="-122"/>
            </a:endParaRPr>
          </a:p>
          <a:p>
            <a:pPr marL="0" indent="0">
              <a:spcBef>
                <a:spcPts val="800"/>
              </a:spcBef>
              <a:buNone/>
            </a:pPr>
            <a:r>
              <a:rPr lang="zh-CN" altLang="en-US" sz="2000">
                <a:ea typeface="Microsoft YaHei" panose="020B0503020204020204" pitchFamily="34" charset="-122"/>
              </a:rPr>
              <a:t>02   业务故事 · 我们在解决什么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zh-CN" altLang="en-US" sz="2000">
                <a:ea typeface="Microsoft YaHei" panose="020B0503020204020204" pitchFamily="34" charset="-122"/>
              </a:rPr>
              <a:t>03   技术架构 · 五层如何协作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zh-CN" altLang="en-US" sz="2000">
                <a:ea typeface="Microsoft YaHei" panose="020B0503020204020204" pitchFamily="34" charset="-122"/>
              </a:rPr>
              <a:t>04   六个 Lab · 分别做什么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zh-CN" altLang="en-US" sz="2000">
                <a:ea typeface="Microsoft YaHei" panose="020B0503020204020204" pitchFamily="34" charset="-122"/>
              </a:rPr>
              <a:t>05   逐个 Lab · 步骤与验收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zh-CN" altLang="en-US" sz="2000">
                <a:ea typeface="Microsoft YaHei" panose="020B0503020204020204" pitchFamily="34" charset="-122"/>
              </a:rPr>
              <a:t>06   总结 · 你带走了什么</a:t>
            </a:r>
          </a:p>
        </p:txBody>
      </p:sp>
    </p:spTree>
    <p:extLst>
      <p:ext uri="{BB962C8B-B14F-4D97-AF65-F5344CB8AC3E}">
        <p14:creationId xmlns:p14="http://schemas.microsoft.com/office/powerpoint/2010/main" val="26109509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>
            <a:off x="585216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786384" y="1554480"/>
            <a:ext cx="566928" cy="566928"/>
          </a:xfrm>
          <a:prstGeom prst="ellipse">
            <a:avLst/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0" name="Picture 49" descr="TbClock_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42" y="1682038"/>
            <a:ext cx="311810" cy="31181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3389406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3590574" y="1554480"/>
            <a:ext cx="566928" cy="566928"/>
          </a:xfrm>
          <a:prstGeom prst="ellipse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3" name="Picture 52" descr="TbFlask_702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133" y="1682038"/>
            <a:ext cx="311810" cy="311810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6193596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5" name="Oval 54"/>
          <p:cNvSpPr/>
          <p:nvPr/>
        </p:nvSpPr>
        <p:spPr>
          <a:xfrm>
            <a:off x="6394764" y="1554480"/>
            <a:ext cx="566928" cy="566928"/>
          </a:xfrm>
          <a:prstGeom prst="ellipse">
            <a:avLst/>
          </a:prstGeom>
          <a:solidFill>
            <a:schemeClr val="accent5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6" name="Picture 55" descr="TbHandClick_225B6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323" y="1682038"/>
            <a:ext cx="311810" cy="31181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8997787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8" name="Oval 57"/>
          <p:cNvSpPr/>
          <p:nvPr/>
        </p:nvSpPr>
        <p:spPr>
          <a:xfrm>
            <a:off x="9198955" y="1554480"/>
            <a:ext cx="566928" cy="566928"/>
          </a:xfrm>
          <a:prstGeom prst="ellipse">
            <a:avLst/>
          </a:prstGeom>
          <a:solidFill>
            <a:schemeClr val="accent2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9" name="Picture 58" descr="TbKeyOff_C03B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514" y="1682038"/>
            <a:ext cx="311810" cy="311810"/>
          </a:xfrm>
          <a:prstGeom prst="rect">
            <a:avLst/>
          </a:prstGeo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1F301958-DE5F-4AB2-97F9-69B1699A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一页总览 · 这三小时会发生什么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0CE6DBD-1659-EA46-9A44-0C5A2F29E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培训总纲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A2588-DEEF-4466-B489-C48555FD0A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384" y="3154680"/>
            <a:ext cx="220370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开场 15 · Lab 140 · 收尾 15</a:t>
            </a:r>
          </a:p>
          <a:p>
            <a:r>
              <a:rPr lang="zh-CN" altLang="en-US">
                <a:ea typeface="Microsoft YaHei" panose="020B0503020204020204" pitchFamily="34" charset="-122"/>
              </a:rPr>
              <a:t>五段递进，从本体一路到上云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881EA-0B91-4897-8A3A-ED859EA8E9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90574" y="3154680"/>
            <a:ext cx="220370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Lab 01–05，另加资源受限版 05-1</a:t>
            </a:r>
          </a:p>
          <a:p>
            <a:r>
              <a:rPr lang="zh-CN" altLang="en-US">
                <a:ea typeface="Microsoft YaHei" panose="020B0503020204020204" pitchFamily="34" charset="-122"/>
              </a:rPr>
              <a:t>每个 Lab 都有可验收的产出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ADB5E4-83CF-47EF-AC04-3689C7951E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6384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>
                <a:solidFill>
                  <a:schemeClr val="accent1"/>
                </a:solidFill>
                <a:ea typeface="Microsoft YaHei" panose="020B0503020204020204" pitchFamily="34" charset="-122"/>
              </a:rPr>
              <a:t>180 分钟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586467-7936-4E76-9180-189FF966B5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90574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>
                <a:solidFill>
                  <a:schemeClr val="accent1"/>
                </a:solidFill>
                <a:ea typeface="Microsoft YaHei" panose="020B0503020204020204" pitchFamily="34" charset="-122"/>
              </a:rPr>
              <a:t>6 个 Lab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2F57858-903C-46A9-9906-73E81D0FC7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4764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>
                <a:solidFill>
                  <a:schemeClr val="accent1"/>
                </a:solidFill>
                <a:ea typeface="Microsoft YaHei" panose="020B0503020204020204" pitchFamily="34" charset="-122"/>
              </a:rPr>
              <a:t>4 个动手点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FF092BA-E74B-41E0-B979-21F5F70228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4764" y="3154680"/>
            <a:ext cx="220370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分布在 Lab 01 / 02 / 03 / 05</a:t>
            </a:r>
          </a:p>
          <a:p>
            <a:r>
              <a:rPr lang="zh-CN" altLang="en-US">
                <a:ea typeface="Microsoft YaHei" panose="020B0503020204020204" pitchFamily="34" charset="-122"/>
              </a:rPr>
              <a:t>其余步骤是读与跑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D63C8E-5E9F-481E-B5AB-59481AA4EE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98955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>
                <a:solidFill>
                  <a:schemeClr val="accent1"/>
                </a:solidFill>
                <a:ea typeface="Microsoft YaHei" panose="020B0503020204020204" pitchFamily="34" charset="-122"/>
              </a:rPr>
              <a:t>0 个 API Key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D3596B4-05D2-428D-BC8E-D18CB32B42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98955" y="3154680"/>
            <a:ext cx="220370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云端全程 Entra 工作负载身份</a:t>
            </a:r>
          </a:p>
          <a:p>
            <a:r>
              <a:rPr lang="zh-CN" altLang="en-US">
                <a:ea typeface="Microsoft YaHei" panose="020B0503020204020204" pitchFamily="34" charset="-122"/>
              </a:rPr>
              <a:t>集群里不保存任何模型密钥</a:t>
            </a:r>
          </a:p>
        </p:txBody>
      </p:sp>
    </p:spTree>
    <p:extLst>
      <p:ext uri="{BB962C8B-B14F-4D97-AF65-F5344CB8AC3E}">
        <p14:creationId xmlns:p14="http://schemas.microsoft.com/office/powerpoint/2010/main" val="51079335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>
            <a:off x="585216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786384" y="1554480"/>
            <a:ext cx="566928" cy="566928"/>
          </a:xfrm>
          <a:prstGeom prst="ellipse">
            <a:avLst/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0" name="Picture 49" descr="TbBook_0078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42" y="1682038"/>
            <a:ext cx="311810" cy="31181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3389406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3590574" y="1554480"/>
            <a:ext cx="566928" cy="566928"/>
          </a:xfrm>
          <a:prstGeom prst="ellipse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3" name="Picture 52" descr="TbBulb_7025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133" y="1682038"/>
            <a:ext cx="311810" cy="311810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6193596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5" name="Oval 54"/>
          <p:cNvSpPr/>
          <p:nvPr/>
        </p:nvSpPr>
        <p:spPr>
          <a:xfrm>
            <a:off x="6394764" y="1554480"/>
            <a:ext cx="566928" cy="566928"/>
          </a:xfrm>
          <a:prstGeom prst="ellipse">
            <a:avLst/>
          </a:prstGeom>
          <a:solidFill>
            <a:schemeClr val="accent5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6" name="Picture 55" descr="TbHammer_225B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323" y="1682038"/>
            <a:ext cx="311810" cy="31181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8997787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8" name="Oval 57"/>
          <p:cNvSpPr/>
          <p:nvPr/>
        </p:nvSpPr>
        <p:spPr>
          <a:xfrm>
            <a:off x="9198955" y="1554480"/>
            <a:ext cx="566928" cy="566928"/>
          </a:xfrm>
          <a:prstGeom prst="ellipse">
            <a:avLst/>
          </a:prstGeom>
          <a:solidFill>
            <a:schemeClr val="accent2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9" name="Picture 58" descr="TbRocket_C03B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514" y="1682038"/>
            <a:ext cx="311810" cy="311810"/>
          </a:xfrm>
          <a:prstGeom prst="rect">
            <a:avLst/>
          </a:prstGeo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1F301958-DE5F-4AB2-97F9-69B1699A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课程主线 · 一条线贯穿五个 Lab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0CE6DBD-1659-EA46-9A44-0C5A2F29E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培训总纲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A2588-DEEF-4466-B489-C48555FD0A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384" y="3154680"/>
            <a:ext cx="220370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本体把业务关系显式声明，让系统沿着关系走。</a:t>
            </a:r>
          </a:p>
          <a:p>
            <a:r>
              <a:rPr lang="zh-CN" altLang="en-US">
                <a:ea typeface="Microsoft YaHei" panose="020B0503020204020204" pitchFamily="34" charset="-122"/>
              </a:rPr>
              <a:t>Fabric IQ 概念 · Lab 01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881EA-0B91-4897-8A3A-ED859EA8E9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90574" y="3154680"/>
            <a:ext cx="220370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MCP 暴露受治理的查询能力，智能体据此作答。</a:t>
            </a:r>
          </a:p>
          <a:p>
            <a:r>
              <a:rPr>
                <a:ea typeface="Microsoft YaHei" panose="020B0503020204020204" pitchFamily="34" charset="-122"/>
              </a:rPr>
              <a:t>MCP + Agent Framework · Lab 02–03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ADB5E4-83CF-47EF-AC04-3689C7951E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6384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chemeClr val="accent1"/>
                </a:solidFill>
                <a:ea typeface="Microsoft YaHei" panose="020B0503020204020204" pitchFamily="34" charset="-122"/>
              </a:rPr>
              <a:t>① Understand</a:t>
            </a:r>
          </a:p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读得懂业务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586467-7936-4E76-9180-189FF966B5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90574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chemeClr val="accent1"/>
                </a:solidFill>
                <a:ea typeface="Microsoft YaHei" panose="020B0503020204020204" pitchFamily="34" charset="-122"/>
              </a:rPr>
              <a:t>② Reason</a:t>
            </a:r>
          </a:p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想得通问题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2F57858-903C-46A9-9906-73E81D0FC7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4764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chemeClr val="accent1"/>
                </a:solidFill>
                <a:ea typeface="Microsoft YaHei" panose="020B0503020204020204" pitchFamily="34" charset="-122"/>
              </a:rPr>
              <a:t>③ Build</a:t>
            </a:r>
          </a:p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搭得起来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FF092BA-E74B-41E0-B979-21F5F70228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4764" y="3154680"/>
            <a:ext cx="220370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做成能用的 Copilot 入口，结论可分享。</a:t>
            </a:r>
          </a:p>
          <a:p>
            <a:r>
              <a:rPr>
                <a:ea typeface="Microsoft YaHei" panose="020B0503020204020204" pitchFamily="34" charset="-122"/>
              </a:rPr>
              <a:t>FastAPI + ACS Email · Lab 04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D63C8E-5E9F-481E-B5AB-59481AA4EE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98955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chemeClr val="accent1"/>
                </a:solidFill>
                <a:ea typeface="Microsoft YaHei" panose="020B0503020204020204" pitchFamily="34" charset="-122"/>
              </a:rPr>
              <a:t>④ Run</a:t>
            </a:r>
          </a:p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跑得动规模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D3596B4-05D2-428D-BC8E-D18CB32B42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98955" y="3154680"/>
            <a:ext cx="220370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规模化承载，无密码调用模型。</a:t>
            </a:r>
          </a:p>
          <a:p>
            <a:r>
              <a:rPr lang="zh-CN" altLang="en-US">
                <a:ea typeface="Microsoft YaHei" panose="020B0503020204020204" pitchFamily="34" charset="-122"/>
              </a:rPr>
              <a:t>AKS + Entra 身份 · Lab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180 分钟议程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BB9F1-5308-0B00-E6C0-EC75DC1337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培训总纲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1481328"/>
          <a:ext cx="11064240" cy="400507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时间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段落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内容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覆盖技术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00:00 · 15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开场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场景与成品演示 —— 先看结果，再拆过程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—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00:15 · 25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01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让系统读得懂业务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Fabric IQ 本体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00:40 · 30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02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把本体变成可调用的工具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MCP · GitHub Copilot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01:10 · 10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休息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01:20 · 35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03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两个智能体分工协作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Agent Framework · Monty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01:55 · 20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04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做成 Copilot 应用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FastAPI · ACS Email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02:15 · 30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05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上云与无密码认证（或 05-1 资源受限版）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AKS · Entra 身份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02:45 · 15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收尾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架构回顾与 Q&amp;A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—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6928" y="56509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chemeClr val="accent1"/>
                </a:solidFill>
                <a:ea typeface="Microsoft YaHei" panose="020B0503020204020204" pitchFamily="34" charset="-122"/>
              </a:rPr>
              <a:t>140 分钟是 Lab，40 分钟是开场、休息与收尾。四个动手点分布在 Lab 01 / 02 / 03 / 05。</a:t>
            </a:r>
          </a:p>
        </p:txBody>
      </p:sp>
    </p:spTree>
    <p:extLst>
      <p:ext uri="{BB962C8B-B14F-4D97-AF65-F5344CB8AC3E}">
        <p14:creationId xmlns:p14="http://schemas.microsoft.com/office/powerpoint/2010/main" val="395772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67E3-9B6E-DC3C-7295-22DF4DD72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· 业务故事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43DD8-5F07-B69F-E937-4ED19B1CBC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8772" y="3977319"/>
            <a:ext cx="4177284" cy="246221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我们到底在解决什么问题</a:t>
            </a:r>
          </a:p>
        </p:txBody>
      </p:sp>
    </p:spTree>
    <p:extLst>
      <p:ext uri="{BB962C8B-B14F-4D97-AF65-F5344CB8AC3E}">
        <p14:creationId xmlns:p14="http://schemas.microsoft.com/office/powerpoint/2010/main" val="295700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46">
            <a:extLst>
              <a:ext uri="{FF2B5EF4-FFF2-40B4-BE49-F238E27FC236}">
                <a16:creationId xmlns:a16="http://schemas.microsoft.com/office/drawing/2014/main" id="{1F301958-DE5F-4AB2-97F9-69B1699A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这家公司 · A company at full sprint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0CE6DBD-1659-EA46-9A44-0C5A2F29E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业务故事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" y="1325880"/>
            <a:ext cx="6766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2000">
                <a:solidFill>
                  <a:schemeClr val="tx1"/>
                </a:solidFill>
                <a:ea typeface="Microsoft YaHei" panose="020B0503020204020204" pitchFamily="34" charset="-122"/>
              </a:rPr>
              <a:t>一家 AI frontier company，交付侧早就用上了 AI，</a:t>
            </a:r>
          </a:p>
          <a:p>
            <a:pPr>
              <a:lnSpc>
                <a:spcPct val="115000"/>
              </a:lnSpc>
            </a:pPr>
            <a:r>
              <a:rPr lang="zh-CN" altLang="en-US" sz="2000">
                <a:solidFill>
                  <a:schemeClr val="tx1"/>
                </a:solidFill>
                <a:ea typeface="Microsoft YaHei" panose="020B0503020204020204" pitchFamily="34" charset="-122"/>
              </a:rPr>
              <a:t>运营侧却还在人肉数据。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" y="2542032"/>
            <a:ext cx="6400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zh-CN" altLang="en-US" sz="1100" spc="150">
                <a:solidFill>
                  <a:schemeClr val="tx1">
                    <a:lumMod val="60000"/>
                    <a:lumOff val="40000"/>
                  </a:schemeClr>
                </a:solidFill>
                <a:ea typeface="Microsoft YaHei" panose="020B0503020204020204" pitchFamily="34" charset="-122"/>
              </a:rPr>
              <a:t>四个特征，放大同一个矛盾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85216" y="2926080"/>
            <a:ext cx="6638544" cy="0"/>
          </a:xfrm>
          <a:prstGeom prst="line">
            <a:avLst/>
          </a:prstGeom>
          <a:ln w="9525">
            <a:solidFill>
              <a:schemeClr val="accent1">
                <a:lumMod val="15000"/>
                <a:lumOff val="85000"/>
              </a:schemeClr>
            </a:solidFill>
          </a:ln>
        </p:spPr>
      </p:cxnSp>
      <p:sp>
        <p:nvSpPr>
          <p:cNvPr id="51" name="Oval 50"/>
          <p:cNvSpPr/>
          <p:nvPr/>
        </p:nvSpPr>
        <p:spPr>
          <a:xfrm>
            <a:off x="585216" y="3072384"/>
            <a:ext cx="530352" cy="530352"/>
          </a:xfrm>
          <a:prstGeom prst="ellipse">
            <a:avLst/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2" name="Picture 51" descr="TbTrendingUp_0078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45" y="3191713"/>
            <a:ext cx="291693" cy="29169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280160" y="3054096"/>
            <a:ext cx="1828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lang="zh-CN" altLang="en-US" sz="1700" b="1">
                <a:solidFill>
                  <a:schemeClr val="tx1"/>
                </a:solidFill>
                <a:ea typeface="Microsoft YaHei" panose="020B0503020204020204" pitchFamily="34" charset="-122"/>
              </a:rPr>
              <a:t>高速扩张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3054096"/>
            <a:ext cx="40690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lang="zh-CN" altLang="en-US" sz="1400">
                <a:solidFill>
                  <a:schemeClr val="tx1">
                    <a:lumMod val="90000"/>
                    <a:lumOff val="10000"/>
                  </a:schemeClr>
                </a:solidFill>
                <a:ea typeface="Microsoft YaHei" panose="020B0503020204020204" pitchFamily="34" charset="-122"/>
              </a:rPr>
              <a:t>多条研发线并行，每周重排优先级 — 静态报表永远过期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85216" y="3767328"/>
            <a:ext cx="6638544" cy="0"/>
          </a:xfrm>
          <a:prstGeom prst="line">
            <a:avLst/>
          </a:prstGeom>
          <a:ln w="9525">
            <a:solidFill>
              <a:schemeClr val="accent1">
                <a:lumMod val="15000"/>
                <a:lumOff val="85000"/>
              </a:schemeClr>
            </a:solidFill>
          </a:ln>
        </p:spPr>
      </p:cxnSp>
      <p:sp>
        <p:nvSpPr>
          <p:cNvPr id="56" name="Oval 55"/>
          <p:cNvSpPr/>
          <p:nvPr/>
        </p:nvSpPr>
        <p:spPr>
          <a:xfrm>
            <a:off x="585216" y="3913632"/>
            <a:ext cx="530352" cy="530352"/>
          </a:xfrm>
          <a:prstGeom prst="ellipse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7" name="Picture 56" descr="TbCoins_7025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" y="4032961"/>
            <a:ext cx="291693" cy="291693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280160" y="3895344"/>
            <a:ext cx="1828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lang="zh-CN" altLang="en-US" sz="1700" b="1">
                <a:solidFill>
                  <a:schemeClr val="tx1"/>
                </a:solidFill>
                <a:ea typeface="Microsoft YaHei" panose="020B0503020204020204" pitchFamily="34" charset="-122"/>
              </a:rPr>
              <a:t>资源稀缺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4680" y="3895344"/>
            <a:ext cx="40690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lang="zh-CN" altLang="en-US" sz="1400">
                <a:solidFill>
                  <a:schemeClr val="tx1">
                    <a:lumMod val="90000"/>
                    <a:lumOff val="10000"/>
                  </a:schemeClr>
                </a:solidFill>
                <a:ea typeface="Microsoft YaHei" panose="020B0503020204020204" pitchFamily="34" charset="-122"/>
              </a:rPr>
              <a:t>算力与预算最紧 —「钱花在哪、还剩多少」必须随时说清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85216" y="4608576"/>
            <a:ext cx="6638544" cy="0"/>
          </a:xfrm>
          <a:prstGeom prst="line">
            <a:avLst/>
          </a:prstGeom>
          <a:ln w="9525">
            <a:solidFill>
              <a:schemeClr val="accent1">
                <a:lumMod val="15000"/>
                <a:lumOff val="85000"/>
              </a:schemeClr>
            </a:solidFill>
          </a:ln>
        </p:spPr>
      </p:cxnSp>
      <p:sp>
        <p:nvSpPr>
          <p:cNvPr id="61" name="Oval 60"/>
          <p:cNvSpPr/>
          <p:nvPr/>
        </p:nvSpPr>
        <p:spPr>
          <a:xfrm>
            <a:off x="585216" y="4754880"/>
            <a:ext cx="530352" cy="530352"/>
          </a:xfrm>
          <a:prstGeom prst="ellipse">
            <a:avLst/>
          </a:prstGeom>
          <a:solidFill>
            <a:schemeClr val="accent5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62" name="Picture 61" descr="TbRobot_225B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45" y="4874209"/>
            <a:ext cx="291693" cy="291693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280160" y="4736592"/>
            <a:ext cx="1828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lang="zh-CN" altLang="en-US" sz="1700" b="1">
                <a:solidFill>
                  <a:schemeClr val="tx1"/>
                </a:solidFill>
                <a:ea typeface="Microsoft YaHei" panose="020B0503020204020204" pitchFamily="34" charset="-122"/>
              </a:rPr>
              <a:t>AI 已在交付侧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54680" y="4736592"/>
            <a:ext cx="40690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lang="zh-CN" altLang="en-US" sz="1400">
                <a:solidFill>
                  <a:schemeClr val="tx1">
                    <a:lumMod val="90000"/>
                    <a:lumOff val="10000"/>
                  </a:schemeClr>
                </a:solidFill>
                <a:ea typeface="Microsoft YaHei" panose="020B0503020204020204" pitchFamily="34" charset="-122"/>
              </a:rPr>
              <a:t>产品里到处是 agent，内部经营分析却靠手工 join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5216" y="5449824"/>
            <a:ext cx="6638544" cy="0"/>
          </a:xfrm>
          <a:prstGeom prst="line">
            <a:avLst/>
          </a:prstGeom>
          <a:ln w="9525">
            <a:solidFill>
              <a:schemeClr val="accent1">
                <a:lumMod val="15000"/>
                <a:lumOff val="85000"/>
              </a:schemeClr>
            </a:solidFill>
          </a:ln>
        </p:spPr>
      </p:cxnSp>
      <p:sp>
        <p:nvSpPr>
          <p:cNvPr id="66" name="Oval 65"/>
          <p:cNvSpPr/>
          <p:nvPr/>
        </p:nvSpPr>
        <p:spPr>
          <a:xfrm>
            <a:off x="585216" y="5596128"/>
            <a:ext cx="530352" cy="530352"/>
          </a:xfrm>
          <a:prstGeom prst="ellipse">
            <a:avLst/>
          </a:prstGeom>
          <a:solidFill>
            <a:schemeClr val="accent2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67" name="Picture 66" descr="TbClockBolt_C03B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545" y="5715457"/>
            <a:ext cx="291693" cy="291693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80160" y="5577840"/>
            <a:ext cx="1828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lang="zh-CN" altLang="en-US" sz="1700" b="1">
                <a:solidFill>
                  <a:schemeClr val="tx1"/>
                </a:solidFill>
                <a:ea typeface="Microsoft YaHei" panose="020B0503020204020204" pitchFamily="34" charset="-122"/>
              </a:rPr>
              <a:t>决策要快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54680" y="5577840"/>
            <a:ext cx="40690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lang="zh-CN" altLang="en-US" sz="1400">
                <a:solidFill>
                  <a:schemeClr val="tx1">
                    <a:lumMod val="90000"/>
                    <a:lumOff val="10000"/>
                  </a:schemeClr>
                </a:solidFill>
                <a:ea typeface="Microsoft YaHei" panose="020B0503020204020204" pitchFamily="34" charset="-122"/>
              </a:rPr>
              <a:t>经营会上的问题不能等一天，答案慢了决策就过期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85216" y="6291072"/>
            <a:ext cx="6638544" cy="0"/>
          </a:xfrm>
          <a:prstGeom prst="line">
            <a:avLst/>
          </a:prstGeom>
          <a:ln w="9525">
            <a:solidFill>
              <a:schemeClr val="accent1">
                <a:lumMod val="15000"/>
                <a:lumOff val="85000"/>
              </a:schemeClr>
            </a:solidFill>
          </a:ln>
        </p:spPr>
      </p:cxnSp>
      <p:sp>
        <p:nvSpPr>
          <p:cNvPr id="71" name="Rounded Rectangle 70"/>
          <p:cNvSpPr/>
          <p:nvPr/>
        </p:nvSpPr>
        <p:spPr>
          <a:xfrm>
            <a:off x="7680960" y="1325880"/>
            <a:ext cx="3922776" cy="502920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001000" y="1645920"/>
            <a:ext cx="32918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zh-CN" altLang="en-US" sz="1100" spc="150">
                <a:solidFill>
                  <a:schemeClr val="accent2"/>
                </a:solidFill>
                <a:ea typeface="Microsoft YaHei" panose="020B0503020204020204" pitchFamily="34" charset="-122"/>
              </a:rPr>
              <a:t>— 真正的缺口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01000" y="2148840"/>
            <a:ext cx="3337560" cy="3108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>
                <a:solidFill>
                  <a:schemeClr val="accent1"/>
                </a:solidFill>
                <a:ea typeface="Microsoft YaHei" panose="020B0503020204020204" pitchFamily="34" charset="-122"/>
              </a:rPr>
              <a:t>「数据全都在，</a:t>
            </a:r>
          </a:p>
          <a:p>
            <a:pPr>
              <a:lnSpc>
                <a:spcPct val="125000"/>
              </a:lnSpc>
            </a:pPr>
            <a:r>
              <a:rPr lang="zh-CN" altLang="en-US" sz="2800">
                <a:solidFill>
                  <a:schemeClr val="accent1"/>
                </a:solidFill>
                <a:ea typeface="Microsoft YaHei" panose="020B0503020204020204" pitchFamily="34" charset="-122"/>
              </a:rPr>
              <a:t>缺的是把它们</a:t>
            </a:r>
          </a:p>
          <a:p>
            <a:pPr>
              <a:lnSpc>
                <a:spcPct val="125000"/>
              </a:lnSpc>
            </a:pPr>
            <a:r>
              <a:rPr lang="zh-CN" altLang="en-US" sz="2800">
                <a:solidFill>
                  <a:schemeClr val="accent1"/>
                </a:solidFill>
                <a:ea typeface="Microsoft YaHei" panose="020B0503020204020204" pitchFamily="34" charset="-122"/>
              </a:rPr>
              <a:t>连起来的那一层</a:t>
            </a:r>
          </a:p>
          <a:p>
            <a:pPr>
              <a:lnSpc>
                <a:spcPct val="125000"/>
              </a:lnSpc>
            </a:pPr>
            <a:r>
              <a:rPr lang="zh-CN" altLang="en-US" sz="2800">
                <a:solidFill>
                  <a:schemeClr val="accent1"/>
                </a:solidFill>
                <a:ea typeface="Microsoft YaHei" panose="020B0503020204020204" pitchFamily="34" charset="-122"/>
              </a:rPr>
              <a:t>理解」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001000" y="5623560"/>
            <a:ext cx="548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8001000" y="5715000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zh-CN" altLang="en-US" sz="1100" spc="100">
                <a:solidFill>
                  <a:schemeClr val="tx1">
                    <a:lumMod val="60000"/>
                    <a:lumOff val="40000"/>
                  </a:schemeClr>
                </a:solidFill>
                <a:ea typeface="Microsoft YaHei" panose="020B0503020204020204" pitchFamily="34" charset="-122"/>
              </a:rPr>
              <a:t>开场 15 分钟就讲这一页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46">
            <a:extLst>
              <a:ext uri="{FF2B5EF4-FFF2-40B4-BE49-F238E27FC236}">
                <a16:creationId xmlns:a16="http://schemas.microsoft.com/office/drawing/2014/main" id="{1F301958-DE5F-4AB2-97F9-69B1699A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运营团队的一天 · 三个系统，零关系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5D30401-1A5F-9972-F8CD-494C21C22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业务故事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5216" y="1463040"/>
            <a:ext cx="3154680" cy="29260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859536" y="1737360"/>
            <a:ext cx="566928" cy="566928"/>
          </a:xfrm>
          <a:prstGeom prst="ellipse">
            <a:avLst/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0" name="Picture 49" descr="TbBuildingBank_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94" y="1864918"/>
            <a:ext cx="311810" cy="31181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45336" y="1755648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000" spc="200">
                <a:solidFill>
                  <a:schemeClr val="tx1">
                    <a:lumMod val="55000"/>
                    <a:lumOff val="45000"/>
                  </a:schemeClr>
                </a:solidFill>
                <a:ea typeface="Microsoft YaHei" panose="020B0503020204020204" pitchFamily="34" charset="-122"/>
              </a:rPr>
              <a:t>FINANCE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45336" y="1993392"/>
            <a:ext cx="2011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zh-CN" altLang="en-US" sz="2200" b="1">
                <a:solidFill>
                  <a:schemeClr val="tx1"/>
                </a:solidFill>
                <a:ea typeface="Microsoft YaHei" panose="020B0503020204020204" pitchFamily="34" charset="-122"/>
              </a:rPr>
              <a:t>财务系统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59536" y="2670048"/>
            <a:ext cx="548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859536" y="2788920"/>
            <a:ext cx="260604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>
              <a:spcBef>
                <a:spcPts val="400"/>
              </a:spcBef>
            </a:pPr>
            <a:r>
              <a:rPr lang="zh-CN" altLang="en-US" sz="1500">
                <a:solidFill>
                  <a:schemeClr val="tx1"/>
                </a:solidFill>
                <a:ea typeface="Microsoft YaHei" panose="020B0503020204020204" pitchFamily="34" charset="-122"/>
              </a:rPr>
              <a:t>资金池</a:t>
            </a:r>
          </a:p>
          <a:p>
            <a:pPr>
              <a:spcBef>
                <a:spcPts val="400"/>
              </a:spcBef>
            </a:pPr>
            <a:r>
              <a:rPr lang="zh-CN" altLang="en-US" sz="1500">
                <a:solidFill>
                  <a:schemeClr val="tx1"/>
                </a:solidFill>
                <a:ea typeface="Microsoft YaHei" panose="020B0503020204020204" pitchFamily="34" charset="-122"/>
              </a:rPr>
              <a:t>余额</a:t>
            </a:r>
          </a:p>
          <a:p>
            <a:pPr>
              <a:spcBef>
                <a:spcPts val="400"/>
              </a:spcBef>
            </a:pPr>
            <a:r>
              <a:rPr lang="zh-CN" altLang="en-US" sz="1500">
                <a:solidFill>
                  <a:schemeClr val="tx1"/>
                </a:solidFill>
                <a:ea typeface="Microsoft YaHei" panose="020B0503020204020204" pitchFamily="34" charset="-122"/>
              </a:rPr>
              <a:t>类型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39896" y="2286000"/>
            <a:ext cx="777240" cy="10972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4800">
                <a:solidFill>
                  <a:schemeClr val="accent2"/>
                </a:solidFill>
                <a:ea typeface="Microsoft YaHei" panose="020B0503020204020204" pitchFamily="34" charset="-122"/>
              </a:rPr>
              <a:t>?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17136" y="1463040"/>
            <a:ext cx="3154680" cy="29260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7" name="Oval 56"/>
          <p:cNvSpPr/>
          <p:nvPr/>
        </p:nvSpPr>
        <p:spPr>
          <a:xfrm>
            <a:off x="4791455" y="1737360"/>
            <a:ext cx="566928" cy="566928"/>
          </a:xfrm>
          <a:prstGeom prst="ellipse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8" name="Picture 57" descr="TbClipboardList_702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014" y="1864918"/>
            <a:ext cx="311810" cy="31181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477255" y="1755648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000" spc="200">
                <a:solidFill>
                  <a:schemeClr val="tx1">
                    <a:lumMod val="55000"/>
                    <a:lumOff val="45000"/>
                  </a:schemeClr>
                </a:solidFill>
                <a:ea typeface="Microsoft YaHei" panose="020B0503020204020204" pitchFamily="34" charset="-122"/>
              </a:rPr>
              <a:t>PLANNING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77255" y="1993392"/>
            <a:ext cx="2011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zh-CN" altLang="en-US" sz="2200" b="1">
                <a:solidFill>
                  <a:schemeClr val="tx1"/>
                </a:solidFill>
                <a:ea typeface="Microsoft YaHei" panose="020B0503020204020204" pitchFamily="34" charset="-122"/>
              </a:rPr>
              <a:t>规划文档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791455" y="2670048"/>
            <a:ext cx="548641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4791455" y="2788920"/>
            <a:ext cx="260604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>
              <a:spcBef>
                <a:spcPts val="400"/>
              </a:spcBef>
            </a:pPr>
            <a:r>
              <a:rPr lang="zh-CN" altLang="en-US" sz="1500">
                <a:solidFill>
                  <a:schemeClr val="tx1"/>
                </a:solidFill>
                <a:ea typeface="Microsoft YaHei" panose="020B0503020204020204" pitchFamily="34" charset="-122"/>
              </a:rPr>
              <a:t>研发项目</a:t>
            </a:r>
          </a:p>
          <a:p>
            <a:pPr>
              <a:spcBef>
                <a:spcPts val="400"/>
              </a:spcBef>
            </a:pPr>
            <a:r>
              <a:rPr lang="zh-CN" altLang="en-US" sz="1500">
                <a:solidFill>
                  <a:schemeClr val="tx1"/>
                </a:solidFill>
                <a:ea typeface="Microsoft YaHei" panose="020B0503020204020204" pitchFamily="34" charset="-122"/>
              </a:rPr>
              <a:t>预算</a:t>
            </a:r>
          </a:p>
          <a:p>
            <a:pPr>
              <a:spcBef>
                <a:spcPts val="400"/>
              </a:spcBef>
            </a:pPr>
            <a:r>
              <a:rPr lang="zh-CN" altLang="en-US" sz="1500">
                <a:solidFill>
                  <a:schemeClr val="tx1"/>
                </a:solidFill>
                <a:ea typeface="Microsoft YaHei" panose="020B0503020204020204" pitchFamily="34" charset="-122"/>
              </a:rPr>
              <a:t>状态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71816" y="2286000"/>
            <a:ext cx="777240" cy="10972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4800">
                <a:solidFill>
                  <a:schemeClr val="accent2"/>
                </a:solidFill>
                <a:ea typeface="Microsoft YaHei" panose="020B0503020204020204" pitchFamily="34" charset="-122"/>
              </a:rPr>
              <a:t>?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449056" y="1463040"/>
            <a:ext cx="3154680" cy="29260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65" name="Oval 64"/>
          <p:cNvSpPr/>
          <p:nvPr/>
        </p:nvSpPr>
        <p:spPr>
          <a:xfrm>
            <a:off x="8723376" y="1737360"/>
            <a:ext cx="566928" cy="566928"/>
          </a:xfrm>
          <a:prstGeom prst="ellipse">
            <a:avLst/>
          </a:prstGeom>
          <a:solidFill>
            <a:schemeClr val="accent5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66" name="Picture 65" descr="TbListCheck_225B6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0934" y="1864918"/>
            <a:ext cx="311810" cy="31181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409176" y="1755648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000" spc="200">
                <a:solidFill>
                  <a:schemeClr val="tx1">
                    <a:lumMod val="55000"/>
                    <a:lumOff val="45000"/>
                  </a:schemeClr>
                </a:solidFill>
                <a:ea typeface="Microsoft YaHei" panose="020B0503020204020204" pitchFamily="34" charset="-122"/>
              </a:rPr>
              <a:t>TRACKING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09176" y="1993392"/>
            <a:ext cx="2011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zh-CN" altLang="en-US" sz="2200" b="1">
                <a:solidFill>
                  <a:schemeClr val="tx1"/>
                </a:solidFill>
                <a:ea typeface="Microsoft YaHei" panose="020B0503020204020204" pitchFamily="34" charset="-122"/>
              </a:rPr>
              <a:t>追踪工具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723376" y="2670048"/>
            <a:ext cx="548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8723376" y="2788920"/>
            <a:ext cx="260604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>
              <a:spcBef>
                <a:spcPts val="400"/>
              </a:spcBef>
            </a:pPr>
            <a:r>
              <a:rPr lang="zh-CN" altLang="en-US" sz="1500">
                <a:solidFill>
                  <a:schemeClr val="tx1"/>
                </a:solidFill>
                <a:ea typeface="Microsoft YaHei" panose="020B0503020204020204" pitchFamily="34" charset="-122"/>
              </a:rPr>
              <a:t>工作流</a:t>
            </a:r>
          </a:p>
          <a:p>
            <a:pPr>
              <a:spcBef>
                <a:spcPts val="400"/>
              </a:spcBef>
            </a:pPr>
            <a:r>
              <a:rPr lang="zh-CN" altLang="en-US" sz="1500">
                <a:solidFill>
                  <a:schemeClr val="tx1"/>
                </a:solidFill>
                <a:ea typeface="Microsoft YaHei" panose="020B0503020204020204" pitchFamily="34" charset="-122"/>
              </a:rPr>
              <a:t>工时</a:t>
            </a:r>
          </a:p>
          <a:p>
            <a:pPr>
              <a:spcBef>
                <a:spcPts val="400"/>
              </a:spcBef>
            </a:pPr>
            <a:r>
              <a:rPr lang="zh-CN" altLang="en-US" sz="1500">
                <a:solidFill>
                  <a:schemeClr val="tx1"/>
                </a:solidFill>
                <a:ea typeface="Microsoft YaHei" panose="020B0503020204020204" pitchFamily="34" charset="-122"/>
              </a:rPr>
              <a:t>状态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5216" y="4800600"/>
            <a:ext cx="11018520" cy="0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585216" y="4956048"/>
            <a:ext cx="1101852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lang="zh-CN" altLang="en-US" sz="2200">
                <a:solidFill>
                  <a:schemeClr val="tx1"/>
                </a:solidFill>
                <a:ea typeface="Microsoft YaHei" panose="020B0503020204020204" pitchFamily="34" charset="-122"/>
              </a:rPr>
              <a:t>关系不在任何一个系统里 —— </a:t>
            </a:r>
            <a:r>
              <a:rPr lang="zh-CN" altLang="en-US" sz="2200">
                <a:solidFill>
                  <a:schemeClr val="accent1"/>
                </a:solidFill>
                <a:ea typeface="Microsoft YaHei" panose="020B0503020204020204" pitchFamily="34" charset="-122"/>
              </a:rPr>
              <a:t>它只活在某个人的脑子里，和一张每周更新的表格里。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6" y="5669280"/>
            <a:ext cx="110185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zh-CN" altLang="en-US" sz="1500">
                <a:solidFill>
                  <a:schemeClr val="tx1">
                    <a:lumMod val="75000"/>
                    <a:lumOff val="25000"/>
                  </a:schemeClr>
                </a:solidFill>
                <a:ea typeface="Microsoft YaHei" panose="020B0503020204020204" pitchFamily="34" charset="-122"/>
              </a:rPr>
              <a:t>每个系统各自都没问题。问题是关系从来没有被建模。</a:t>
            </a:r>
          </a:p>
        </p:txBody>
      </p:sp>
    </p:spTree>
    <p:extLst>
      <p:ext uri="{BB962C8B-B14F-4D97-AF65-F5344CB8AC3E}">
        <p14:creationId xmlns:p14="http://schemas.microsoft.com/office/powerpoint/2010/main" val="28935381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业务模型 · 三个实体，两条关系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业务故事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371600"/>
            <a:ext cx="3017520" cy="2788920"/>
          </a:xfrm>
          <a:prstGeom prst="roundRect">
            <a:avLst>
              <a:gd name="adj" fmla="val 5245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64592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200" spc="100">
                <a:solidFill>
                  <a:schemeClr val="accent3"/>
                </a:solidFill>
                <a:latin typeface="Consolas"/>
                <a:ea typeface="Microsoft YaHei" panose="020B0503020204020204" pitchFamily="34" charset="-122"/>
              </a:rPr>
              <a:t>FundingPool</a:t>
            </a:r>
          </a:p>
        </p:txBody>
      </p:sp>
      <p:sp>
        <p:nvSpPr>
          <p:cNvPr id="6" name="Oval 5"/>
          <p:cNvSpPr/>
          <p:nvPr/>
        </p:nvSpPr>
        <p:spPr>
          <a:xfrm>
            <a:off x="2761488" y="1627632"/>
            <a:ext cx="566928" cy="566928"/>
          </a:xfrm>
          <a:prstGeom prst="ellipse">
            <a:avLst/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7" name="Picture 6" descr="TbCoins_0078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046" y="1755190"/>
            <a:ext cx="311810" cy="3118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" y="1938528"/>
            <a:ext cx="1828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ea typeface="Microsoft YaHei" panose="020B0503020204020204" pitchFamily="34" charset="-122"/>
              </a:rPr>
              <a:t>资金池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" y="2578608"/>
            <a:ext cx="548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59536" y="2697480"/>
            <a:ext cx="2468879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>
              <a:spcBef>
                <a:spcPts val="400"/>
              </a:spcBef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算力资本池 48.5M</a:t>
            </a:r>
          </a:p>
          <a:p>
            <a:pPr>
              <a:spcBef>
                <a:spcPts val="400"/>
              </a:spcBef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研发运营基金 12.3M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85716" y="1371600"/>
            <a:ext cx="3017520" cy="2788920"/>
          </a:xfrm>
          <a:prstGeom prst="roundRect">
            <a:avLst>
              <a:gd name="adj" fmla="val 5245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0036" y="164592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200" spc="100">
                <a:solidFill>
                  <a:schemeClr val="accent1"/>
                </a:solidFill>
                <a:latin typeface="Consolas"/>
                <a:ea typeface="Microsoft YaHei" panose="020B0503020204020204" pitchFamily="34" charset="-122"/>
              </a:rPr>
              <a:t>Project</a:t>
            </a:r>
          </a:p>
        </p:txBody>
      </p:sp>
      <p:sp>
        <p:nvSpPr>
          <p:cNvPr id="13" name="Oval 12"/>
          <p:cNvSpPr/>
          <p:nvPr/>
        </p:nvSpPr>
        <p:spPr>
          <a:xfrm>
            <a:off x="6761988" y="1627632"/>
            <a:ext cx="566928" cy="566928"/>
          </a:xfrm>
          <a:prstGeom prst="ellipse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4" name="Picture 13" descr="TbFlask_7025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546" y="1755190"/>
            <a:ext cx="311810" cy="3118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60036" y="1938528"/>
            <a:ext cx="1828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ea typeface="Microsoft YaHei" panose="020B0503020204020204" pitchFamily="34" charset="-122"/>
              </a:rPr>
              <a:t>研发项目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60036" y="2578608"/>
            <a:ext cx="548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4860036" y="2697480"/>
            <a:ext cx="2468879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>
              <a:spcBef>
                <a:spcPts val="400"/>
              </a:spcBef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前沿模型预训练 18M</a:t>
            </a:r>
          </a:p>
          <a:p>
            <a:pPr>
              <a:spcBef>
                <a:spcPts val="400"/>
              </a:spcBef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推理平台扩容 7.5M</a:t>
            </a:r>
          </a:p>
          <a:p>
            <a:pPr>
              <a:spcBef>
                <a:spcPts val="400"/>
              </a:spcBef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安全评估体系 2.4M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86216" y="1371600"/>
            <a:ext cx="3017520" cy="2788920"/>
          </a:xfrm>
          <a:prstGeom prst="roundRect">
            <a:avLst>
              <a:gd name="adj" fmla="val 5245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0536" y="164592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200" spc="100">
                <a:solidFill>
                  <a:schemeClr val="accent5"/>
                </a:solidFill>
                <a:latin typeface="Consolas"/>
                <a:ea typeface="Microsoft YaHei" panose="020B0503020204020204" pitchFamily="34" charset="-122"/>
              </a:rPr>
              <a:t>Task</a:t>
            </a:r>
          </a:p>
        </p:txBody>
      </p:sp>
      <p:sp>
        <p:nvSpPr>
          <p:cNvPr id="20" name="Oval 19"/>
          <p:cNvSpPr/>
          <p:nvPr/>
        </p:nvSpPr>
        <p:spPr>
          <a:xfrm>
            <a:off x="10762488" y="1627632"/>
            <a:ext cx="566928" cy="566928"/>
          </a:xfrm>
          <a:prstGeom prst="ellipse">
            <a:avLst/>
          </a:prstGeom>
          <a:solidFill>
            <a:schemeClr val="accent5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21" name="Picture 20" descr="TbSubtask_225B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0046" y="1755190"/>
            <a:ext cx="311810" cy="31181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60536" y="1938528"/>
            <a:ext cx="1828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ea typeface="Microsoft YaHei" panose="020B0503020204020204" pitchFamily="34" charset="-122"/>
              </a:rPr>
              <a:t>工作流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0536" y="2578608"/>
            <a:ext cx="548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8860536" y="2697480"/>
            <a:ext cx="2468879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>
              <a:spcBef>
                <a:spcPts val="400"/>
              </a:spcBef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数据管道扩容</a:t>
            </a:r>
          </a:p>
          <a:p>
            <a:pPr>
              <a:spcBef>
                <a:spcPts val="400"/>
              </a:spcBef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分布式训练上线</a:t>
            </a:r>
          </a:p>
          <a:p>
            <a:pPr>
              <a:spcBef>
                <a:spcPts val="400"/>
              </a:spcBef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服务延迟优化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12463" y="2857500"/>
            <a:ext cx="763525" cy="0"/>
          </a:xfrm>
          <a:prstGeom prst="line">
            <a:avLst/>
          </a:prstGeom>
          <a:ln w="22225">
            <a:solidFill>
              <a:schemeClr val="accent1"/>
            </a:solidFill>
            <a:tailEnd type="triangle" w="med" len="med"/>
          </a:ln>
        </p:spPr>
      </p:cxnSp>
      <p:sp>
        <p:nvSpPr>
          <p:cNvPr id="26" name="TextBox 25"/>
          <p:cNvSpPr txBox="1"/>
          <p:nvPr/>
        </p:nvSpPr>
        <p:spPr>
          <a:xfrm>
            <a:off x="3712463" y="2446020"/>
            <a:ext cx="763524" cy="320040"/>
          </a:xfrm>
          <a:prstGeom prst="rect">
            <a:avLst/>
          </a:prstGeom>
          <a:noFill/>
        </p:spPr>
        <p:txBody>
          <a:bodyPr wrap="square" lIns="36576" tIns="18288" rIns="36576" bIns="18288" anchor="b">
            <a:noAutofit/>
          </a:bodyPr>
          <a:lstStyle/>
          <a:p>
            <a:pPr algn="ctr"/>
            <a:r>
              <a:rPr sz="1100">
                <a:solidFill>
                  <a:schemeClr val="accent1"/>
                </a:solidFill>
                <a:latin typeface="Consolas"/>
                <a:ea typeface="Microsoft YaHei" panose="020B0503020204020204" pitchFamily="34" charset="-122"/>
              </a:rPr>
              <a:t>funds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2463" y="2903220"/>
            <a:ext cx="763524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10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  <a:ea typeface="Microsoft YaHei" panose="020B0503020204020204" pitchFamily="34" charset="-122"/>
              </a:rPr>
              <a:t>1 : 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12963" y="2857500"/>
            <a:ext cx="763525" cy="0"/>
          </a:xfrm>
          <a:prstGeom prst="line">
            <a:avLst/>
          </a:prstGeom>
          <a:ln w="22225">
            <a:solidFill>
              <a:schemeClr val="accent1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7712963" y="2446020"/>
            <a:ext cx="763524" cy="320040"/>
          </a:xfrm>
          <a:prstGeom prst="rect">
            <a:avLst/>
          </a:prstGeom>
          <a:noFill/>
        </p:spPr>
        <p:txBody>
          <a:bodyPr wrap="square" lIns="36576" tIns="18288" rIns="36576" bIns="18288" anchor="b">
            <a:noAutofit/>
          </a:bodyPr>
          <a:lstStyle/>
          <a:p>
            <a:pPr algn="ctr"/>
            <a:r>
              <a:rPr sz="1100">
                <a:solidFill>
                  <a:schemeClr val="accent1"/>
                </a:solidFill>
                <a:latin typeface="Consolas"/>
                <a:ea typeface="Microsoft YaHei" panose="020B0503020204020204" pitchFamily="34" charset="-122"/>
              </a:rPr>
              <a:t>has_task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2963" y="2903220"/>
            <a:ext cx="763524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100">
                <a:solidFill>
                  <a:schemeClr val="tx1">
                    <a:lumMod val="60000"/>
                    <a:lumOff val="40000"/>
                  </a:schemeClr>
                </a:solidFill>
                <a:latin typeface="Consolas"/>
                <a:ea typeface="Microsoft YaHei" panose="020B0503020204020204" pitchFamily="34" charset="-122"/>
              </a:rPr>
              <a:t>1 : 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" y="4572000"/>
            <a:ext cx="11018520" cy="1417320"/>
          </a:xfrm>
          <a:prstGeom prst="roundRect">
            <a:avLst>
              <a:gd name="adj" fmla="val 1032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2" name="Picture 31" descr="TbHandCli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705" y="5092065"/>
            <a:ext cx="377190" cy="37719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783080" y="4727448"/>
            <a:ext cx="9601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zh-CN" altLang="en-US" sz="1100" spc="200">
                <a:solidFill>
                  <a:schemeClr val="accent4"/>
                </a:solidFill>
                <a:ea typeface="Microsoft YaHei" panose="020B0503020204020204" pitchFamily="34" charset="-122"/>
              </a:rPr>
              <a:t>LAB 01 · 动手点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5047488"/>
            <a:ext cx="9601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zh-CN" altLang="en-US" sz="1800">
                <a:solidFill>
                  <a:schemeClr val="bg1"/>
                </a:solidFill>
                <a:ea typeface="Microsoft YaHei" panose="020B0503020204020204" pitchFamily="34" charset="-122"/>
              </a:rPr>
              <a:t>加一个 Team 实体 = 改 3 个声明式文件，</a:t>
            </a:r>
            <a:r>
              <a:rPr sz="1800" i="1">
                <a:solidFill>
                  <a:schemeClr val="bg1"/>
                </a:solidFill>
                <a:ea typeface="Microsoft YaHei" panose="020B0503020204020204" pitchFamily="34" charset="-122"/>
              </a:rPr>
              <a:t>zero lines of code</a:t>
            </a:r>
            <a:r>
              <a:rPr lang="zh-CN" altLang="en-US" sz="1800">
                <a:solidFill>
                  <a:schemeClr val="bg1"/>
                </a:solidFill>
                <a:ea typeface="Microsoft YaHei" panose="020B0503020204020204" pitchFamily="34" charset="-122"/>
              </a:rPr>
              <a:t>。反向遍历自动生效。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四个真实提问 · 表格在第几题崩掉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BB9F1-5308-0B00-E6C0-EC75DC1337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业务故事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1481328"/>
          <a:ext cx="11064240" cy="27432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阶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运营团队的提问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需要的能力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表格能做吗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①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哪些项目正在推进？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单实体过滤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轻松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②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PRJ-001 下还有哪些任务没完成？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关系遍历 · 1 跳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要手动 join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③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资金池 ACC-001 在给哪些项目付钱、总预算多少？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关系遍历 + 聚合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更难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④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每个资金池名下的总投入工时？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跨域 2 跳 + 聚合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几乎做不到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6928" y="4389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chemeClr val="accent1"/>
                </a:solidFill>
                <a:ea typeface="Microsoft YaHei" panose="020B0503020204020204" pitchFamily="34" charset="-122"/>
              </a:rPr>
              <a:t>第 ④ 题是全场的分水岭：资金池 → 项目 → 任务，走两跳再求和。开场演示直接问这一题。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>
            <a:off x="585216" y="1325880"/>
            <a:ext cx="5394960" cy="4846320"/>
          </a:xfrm>
          <a:prstGeom prst="roundRect">
            <a:avLst>
              <a:gd name="adj" fmla="val 3018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813816" y="1572768"/>
            <a:ext cx="566928" cy="566928"/>
          </a:xfrm>
          <a:prstGeom prst="ellipse">
            <a:avLst/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0" name="Picture 49" descr="TbAlertCircle_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74" y="1700326"/>
            <a:ext cx="311810" cy="31181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6208776" y="1325880"/>
            <a:ext cx="5394960" cy="4846320"/>
          </a:xfrm>
          <a:prstGeom prst="roundRect">
            <a:avLst>
              <a:gd name="adj" fmla="val 3018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6437376" y="1572768"/>
            <a:ext cx="566928" cy="566928"/>
          </a:xfrm>
          <a:prstGeom prst="ellipse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3" name="Picture 52" descr="TbCircleCheck_702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934" y="1700326"/>
            <a:ext cx="311810" cy="311810"/>
          </a:xfrm>
          <a:prstGeom prst="rect">
            <a:avLst/>
          </a:prstGeo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1F301958-DE5F-4AB2-97F9-69B1699A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问题与解法 · 缺的不是数据，是含义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1791BD-9B0C-6186-0ACE-827019CF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业务故事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A2588-DEEF-4466-B489-C48555FD0A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3816" y="2377440"/>
            <a:ext cx="4937760" cy="3657600"/>
          </a:xfrm>
        </p:spPr>
        <p:txBody>
          <a:bodyPr/>
          <a:lstStyle/>
          <a:p>
            <a:r>
              <a:rPr lang="zh-CN" altLang="en-US" sz="2000">
                <a:ea typeface="Microsoft YaHei" panose="020B0503020204020204" pitchFamily="34" charset="-122"/>
              </a:rPr>
              <a:t>关系没有被建模，join 只存在于某个人的脑子里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模型不理解业务，只看得见表和字段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每换一个后端，就要改一遍智能体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模型会编造数字，答案不敢拿去开经营会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上线了，但密钥散落在配置和镜像里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881EA-0B91-4897-8A3A-ED859EA8E9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37376" y="2377440"/>
            <a:ext cx="4937760" cy="3657600"/>
          </a:xfrm>
        </p:spPr>
        <p:txBody>
          <a:bodyPr/>
          <a:lstStyle/>
          <a:p>
            <a:r>
              <a:rPr lang="zh-CN" altLang="en-US" sz="2000">
                <a:ea typeface="Microsoft YaHei" panose="020B0503020204020204" pitchFamily="34" charset="-122"/>
              </a:rPr>
              <a:t>Lab 01 本体把关系显式声明出来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Lab 02 MCP 做标准接口，换后端不改智能体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Lab 03 grounded 作答，算数交给服务端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Lab 04 Copilot 入口，结论可一键分享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Lab 05 Entra 工作负载身份，全程无密码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ADB5E4-83CF-47EF-AC04-3689C7951E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7904" y="1572768"/>
            <a:ext cx="4251960" cy="566928"/>
          </a:xfrm>
        </p:spPr>
        <p:txBody>
          <a:bodyPr anchor="ctr"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问题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80DA2C-210D-4425-AD02-4BE53C4F28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41464" y="1572768"/>
            <a:ext cx="4251960" cy="566928"/>
          </a:xfrm>
        </p:spPr>
        <p:txBody>
          <a:bodyPr anchor="ctr"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解法</a:t>
            </a:r>
          </a:p>
        </p:txBody>
      </p:sp>
    </p:spTree>
    <p:extLst>
      <p:ext uri="{BB962C8B-B14F-4D97-AF65-F5344CB8AC3E}">
        <p14:creationId xmlns:p14="http://schemas.microsoft.com/office/powerpoint/2010/main" val="4237014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67E3-9B6E-DC3C-7295-22DF4DD72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· 技术架构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43DD8-5F07-B69F-E937-4ED19B1CBC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8772" y="3977319"/>
            <a:ext cx="4177284" cy="246221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五层如何协作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技术架构 · 五层，一次请求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BB9F1-5308-0B00-E6C0-EC75DC1337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技术架构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1481328"/>
          <a:ext cx="11064239" cy="329184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层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名称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技术与职责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L5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接入层 Access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Container Apps (nginx) · 静态站点 + 反向代理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L4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智能体层 Agents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AKS · Agent Framework · AssistantAgent → DataAnalystAgent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L3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执行层 Execution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Monty CodeAct 沙箱会话池 · 每会话临时环境 · 网络隔离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L2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知识层 Knowledge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MCP Server · 6 个本体查询工具 · dataIQ RDF/OWL + 绑定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L1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模型层 Model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Azure AI Foundry ← Entra 工作负载身份（无密码）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6928" y="49377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chemeClr val="accent1"/>
                </a:solidFill>
                <a:ea typeface="Microsoft YaHei" panose="020B0503020204020204" pitchFamily="34" charset="-122"/>
              </a:rPr>
              <a:t>横切：ACR 镜像分发 · Log Analytics 可观测性 —— 云端不保存任何 API Key。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技术架构 · 一次提问的完整路径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技术架构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34440"/>
            <a:ext cx="205740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3">
                <a:lumMod val="30000"/>
                <a:lumOff val="7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" name="Picture 4" descr="TbBrowser_0078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325880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1271016"/>
            <a:ext cx="1581912" cy="60350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lang="zh-CN" altLang="en-US" sz="950" b="1">
                <a:solidFill>
                  <a:schemeClr val="tx1"/>
                </a:solidFill>
                <a:ea typeface="Microsoft YaHei" panose="020B0503020204020204" pitchFamily="34" charset="-122"/>
              </a:rPr>
              <a:t>浏览器 · Copilot 界面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code/app · 无构建依赖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1892807"/>
            <a:ext cx="0" cy="347473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8" name="TextBox 7"/>
          <p:cNvSpPr txBox="1"/>
          <p:nvPr/>
        </p:nvSpPr>
        <p:spPr>
          <a:xfrm>
            <a:off x="1051560" y="1920240"/>
            <a:ext cx="14630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sz="800" b="1">
                <a:solidFill>
                  <a:schemeClr val="accent3"/>
                </a:solidFill>
                <a:ea typeface="Microsoft YaHei" panose="020B0503020204020204" pitchFamily="34" charset="-122"/>
              </a:rPr>
              <a:t>① HTTPS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240280"/>
            <a:ext cx="20574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chemeClr val="accent3">
                <a:lumMod val="30000"/>
                <a:lumOff val="7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0" name="Picture 9" descr="TbBoxMultiple_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331720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2276856"/>
            <a:ext cx="1581912" cy="813815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950" b="1">
                <a:solidFill>
                  <a:schemeClr val="tx1"/>
                </a:solidFill>
                <a:ea typeface="Microsoft YaHei" panose="020B0503020204020204" pitchFamily="34" charset="-122"/>
              </a:rPr>
              <a:t>Azure Container Apps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ea typeface="Microsoft YaHei" panose="020B0503020204020204" pitchFamily="34" charset="-122"/>
              </a:rPr>
              <a:t>nginx：静态站点 + 反向代理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/ask · /charts/ · /send-email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→ $AGENTS_BACKEND_URL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383280"/>
            <a:ext cx="2057400" cy="3108960"/>
          </a:xfrm>
          <a:prstGeom prst="roundRect">
            <a:avLst>
              <a:gd name="adj" fmla="val 3555"/>
            </a:avLst>
          </a:prstGeom>
          <a:solidFill>
            <a:schemeClr val="bg2"/>
          </a:solidFill>
          <a:ln w="9525">
            <a:solidFill>
              <a:schemeClr val="accent1">
                <a:lumMod val="15000"/>
                <a:lumOff val="85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438144"/>
            <a:ext cx="1947672" cy="3017520"/>
          </a:xfrm>
          <a:prstGeom prst="rect">
            <a:avLst/>
          </a:prstGeom>
          <a:noFill/>
        </p:spPr>
        <p:txBody>
          <a:bodyPr wrap="square" lIns="54864" rIns="36576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000" b="1">
                <a:solidFill>
                  <a:schemeClr val="tx1"/>
                </a:solidFill>
                <a:ea typeface="Microsoft YaHei" panose="020B0503020204020204" pitchFamily="34" charset="-122"/>
              </a:rPr>
              <a:t>一次提问的路径</a:t>
            </a:r>
          </a:p>
          <a:p>
            <a:pPr>
              <a:spcBef>
                <a:spcPts val="600"/>
              </a:spcBef>
            </a:pPr>
            <a:r>
              <a:rPr lang="zh-CN" altLang="en-US" sz="900">
                <a:solidFill>
                  <a:schemeClr val="tx1">
                    <a:lumMod val="90000"/>
                    <a:lumOff val="10000"/>
                  </a:schemeClr>
                </a:solidFill>
                <a:ea typeface="Microsoft YaHei" panose="020B0503020204020204" pitchFamily="34" charset="-122"/>
              </a:rPr>
              <a:t>① 浏览器 HTTPS 提问</a:t>
            </a:r>
          </a:p>
          <a:p>
            <a:pPr>
              <a:spcBef>
                <a:spcPts val="600"/>
              </a:spcBef>
            </a:pPr>
            <a:r>
              <a:rPr lang="zh-CN" altLang="en-US" sz="900">
                <a:solidFill>
                  <a:schemeClr val="tx1">
                    <a:lumMod val="90000"/>
                    <a:lumOff val="10000"/>
                  </a:schemeClr>
                </a:solidFill>
                <a:ea typeface="Microsoft YaHei" panose="020B0503020204020204" pitchFamily="34" charset="-122"/>
              </a:rPr>
              <a:t>② nginx 代理 /ask → AKS 公网 IP</a:t>
            </a:r>
          </a:p>
          <a:p>
            <a:pPr>
              <a:spcBef>
                <a:spcPts val="600"/>
              </a:spcBef>
            </a:pPr>
            <a:r>
              <a:rPr lang="zh-CN" altLang="en-US" sz="900">
                <a:solidFill>
                  <a:schemeClr val="tx1">
                    <a:lumMod val="90000"/>
                    <a:lumOff val="10000"/>
                  </a:schemeClr>
                </a:solidFill>
                <a:ea typeface="Microsoft YaHei" panose="020B0503020204020204" pitchFamily="34" charset="-122"/>
              </a:rPr>
              <a:t>③ Assistant 经 MCP 查本体</a:t>
            </a:r>
          </a:p>
          <a:p>
            <a:pPr>
              <a:spcBef>
                <a:spcPts val="600"/>
              </a:spcBef>
            </a:pPr>
            <a:r>
              <a:rPr lang="zh-CN" altLang="en-US" sz="900">
                <a:solidFill>
                  <a:schemeClr val="tx1">
                    <a:lumMod val="90000"/>
                    <a:lumOff val="10000"/>
                  </a:schemeClr>
                </a:solidFill>
                <a:ea typeface="Microsoft YaHei" panose="020B0503020204020204" pitchFamily="34" charset="-122"/>
              </a:rPr>
              <a:t>④ 工作流调 Foundry（无密钥）</a:t>
            </a:r>
          </a:p>
          <a:p>
            <a:pPr>
              <a:spcBef>
                <a:spcPts val="600"/>
              </a:spcBef>
            </a:pPr>
            <a:r>
              <a:rPr lang="zh-CN" altLang="en-US" sz="900">
                <a:solidFill>
                  <a:schemeClr val="tx1">
                    <a:lumMod val="90000"/>
                    <a:lumOff val="10000"/>
                  </a:schemeClr>
                </a:solidFill>
                <a:ea typeface="Microsoft YaHei" panose="020B0503020204020204" pitchFamily="34" charset="-122"/>
              </a:rPr>
              <a:t>⑤ Analyst 在沙箱内出图</a:t>
            </a:r>
          </a:p>
          <a:p>
            <a:pPr>
              <a:spcBef>
                <a:spcPts val="600"/>
              </a:spcBef>
            </a:pPr>
            <a:r>
              <a:rPr lang="zh-CN" altLang="en-US" sz="900">
                <a:solidFill>
                  <a:schemeClr val="tx1">
                    <a:lumMod val="90000"/>
                    <a:lumOff val="10000"/>
                  </a:schemeClr>
                </a:solidFill>
                <a:ea typeface="Microsoft YaHei" panose="020B0503020204020204" pitchFamily="34" charset="-122"/>
              </a:rPr>
              <a:t>⑥ 可选：ACS 发邮件（用密钥）</a:t>
            </a:r>
          </a:p>
          <a:p>
            <a:pPr>
              <a:spcBef>
                <a:spcPts val="1200"/>
              </a:spcBef>
            </a:pPr>
            <a:r>
              <a:rPr lang="zh-CN" altLang="en-US" sz="800">
                <a:solidFill>
                  <a:schemeClr val="tx1">
                    <a:lumMod val="60000"/>
                    <a:lumOff val="40000"/>
                  </a:schemeClr>
                </a:solidFill>
                <a:ea typeface="Microsoft YaHei" panose="020B0503020204020204" pitchFamily="34" charset="-122"/>
              </a:rPr>
              <a:t>实线 = 实际请求与依赖</a:t>
            </a:r>
          </a:p>
          <a:p>
            <a:pPr>
              <a:spcBef>
                <a:spcPts val="200"/>
              </a:spcBef>
            </a:pPr>
            <a:r>
              <a:rPr lang="zh-CN" altLang="en-US" sz="800">
                <a:solidFill>
                  <a:schemeClr val="tx1">
                    <a:lumMod val="60000"/>
                    <a:lumOff val="40000"/>
                  </a:schemeClr>
                </a:solidFill>
                <a:ea typeface="Microsoft YaHei" panose="020B0503020204020204" pitchFamily="34" charset="-122"/>
              </a:rPr>
              <a:t>虚线 = 文档已声明、代码未接线</a:t>
            </a:r>
          </a:p>
          <a:p>
            <a:pPr>
              <a:spcBef>
                <a:spcPts val="200"/>
              </a:spcBef>
            </a:pPr>
            <a:r>
              <a:rPr lang="zh-CN" altLang="en-US" sz="800">
                <a:solidFill>
                  <a:schemeClr val="tx1">
                    <a:lumMod val="60000"/>
                    <a:lumOff val="40000"/>
                  </a:schemeClr>
                </a:solidFill>
                <a:ea typeface="Microsoft YaHei" panose="020B0503020204020204" pitchFamily="34" charset="-122"/>
              </a:rPr>
              <a:t>所有节点均对应仓库中可指认的文件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234440"/>
            <a:ext cx="4617720" cy="5257800"/>
          </a:xfrm>
          <a:prstGeom prst="roundRect">
            <a:avLst>
              <a:gd name="adj" fmla="val 1980"/>
            </a:avLst>
          </a:prstGeom>
          <a:solidFill>
            <a:schemeClr val="accent3">
              <a:lumMod val="7000"/>
              <a:lumOff val="93000"/>
            </a:schemeClr>
          </a:solidFill>
          <a:ln w="9525"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5" name="Picture 14" descr="TbHexagons_0078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325880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22191" y="1316736"/>
            <a:ext cx="219456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sz="1050" b="1">
                <a:solidFill>
                  <a:schemeClr val="tx1"/>
                </a:solidFill>
                <a:ea typeface="Microsoft YaHei" panose="020B0503020204020204" pitchFamily="34" charset="-122"/>
              </a:rPr>
              <a:t>Azure Kubernetes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353312"/>
            <a:ext cx="2130551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r"/>
            <a:r>
              <a:rPr lang="zh-CN" altLang="en-US" sz="70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namespace: opc-iq · 工作负载身份已启用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1645920"/>
            <a:ext cx="2103120" cy="621792"/>
          </a:xfrm>
          <a:prstGeom prst="roundRect">
            <a:avLst>
              <a:gd name="adj" fmla="val 11764"/>
            </a:avLst>
          </a:prstGeom>
          <a:solidFill>
            <a:schemeClr val="bg1"/>
          </a:solidFill>
          <a:ln w="9525">
            <a:solidFill>
              <a:schemeClr val="accent3">
                <a:lumMod val="30000"/>
                <a:lumOff val="7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9" name="Picture 18" descr="TbArrowsSplit2_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1737360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41064" y="1682496"/>
            <a:ext cx="1627631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950" b="1">
                <a:solidFill>
                  <a:schemeClr val="tx1"/>
                </a:solidFill>
                <a:ea typeface="Microsoft YaHei" panose="020B0503020204020204" pitchFamily="34" charset="-122"/>
              </a:rPr>
              <a:t>Service · LoadBalancer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80 → 8000 · 公网 IP · 无认证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1645920"/>
            <a:ext cx="2103120" cy="621792"/>
          </a:xfrm>
          <a:prstGeom prst="roundRect">
            <a:avLst>
              <a:gd name="adj" fmla="val 11764"/>
            </a:avLst>
          </a:prstGeom>
          <a:solidFill>
            <a:schemeClr val="bg1"/>
          </a:solidFill>
          <a:ln w="9525">
            <a:solidFill>
              <a:schemeClr val="accent3">
                <a:lumMod val="30000"/>
                <a:lumOff val="7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22" name="Picture 21" descr="TbShieldCheck_0078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1737360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81344" y="1682496"/>
            <a:ext cx="1627631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950" b="1">
                <a:solidFill>
                  <a:schemeClr val="tx1"/>
                </a:solidFill>
                <a:ea typeface="Microsoft YaHei" panose="020B0503020204020204" pitchFamily="34" charset="-122"/>
              </a:rPr>
              <a:t>ServiceAccount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opc-agents-sa · client-id 注解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42616" y="1956816"/>
            <a:ext cx="877824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2642616" y="1719072"/>
            <a:ext cx="877824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lang="zh-CN" altLang="en-US" sz="750" b="1">
                <a:solidFill>
                  <a:schemeClr val="accent3"/>
                </a:solidFill>
                <a:ea typeface="Microsoft YaHei" panose="020B0503020204020204" pitchFamily="34" charset="-122"/>
              </a:rPr>
              <a:t>② 代理 /ask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42616" y="1984248"/>
            <a:ext cx="877824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sz="6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→ EXTERNAL-IP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0" y="2267712"/>
            <a:ext cx="0" cy="292608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28" name="TextBox 27"/>
          <p:cNvSpPr txBox="1"/>
          <p:nvPr/>
        </p:nvSpPr>
        <p:spPr>
          <a:xfrm>
            <a:off x="4663440" y="2286000"/>
            <a:ext cx="109728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lang="zh-CN" altLang="en-US" sz="800">
                <a:solidFill>
                  <a:schemeClr val="tx1">
                    <a:lumMod val="65000"/>
                    <a:lumOff val="35000"/>
                  </a:schemeClr>
                </a:solidFill>
                <a:ea typeface="Microsoft YaHei" panose="020B0503020204020204" pitchFamily="34" charset="-122"/>
              </a:rPr>
              <a:t>转发到 Pod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2560320"/>
            <a:ext cx="4343400" cy="3822191"/>
          </a:xfrm>
          <a:prstGeom prst="roundRect">
            <a:avLst>
              <a:gd name="adj" fmla="val 2392"/>
            </a:avLst>
          </a:prstGeom>
          <a:solidFill>
            <a:schemeClr val="bg1"/>
          </a:solidFill>
          <a:ln w="9525">
            <a:solidFill>
              <a:schemeClr val="accent3">
                <a:lumMod val="30000"/>
                <a:lumOff val="7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0" name="Picture 29" descr="TbBox_0078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0168" y="2633472"/>
            <a:ext cx="219456" cy="2194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04488" y="2606039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sz="1000" b="1">
                <a:solidFill>
                  <a:schemeClr val="tx1"/>
                </a:solidFill>
                <a:ea typeface="Microsoft YaHei" panose="020B0503020204020204" pitchFamily="34" charset="-122"/>
              </a:rPr>
              <a:t>Pod · opc-agents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2642615"/>
            <a:ext cx="265176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replicas: 1 · 镜像 opc-agents:workshop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2880360"/>
            <a:ext cx="406908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>
                <a:lumMod val="30000"/>
                <a:lumOff val="7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4" name="Picture 33" descr="TbApi_0078D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7328" y="2971800"/>
            <a:ext cx="237744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078224" y="2916936"/>
            <a:ext cx="3593591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950" b="1">
                <a:solidFill>
                  <a:schemeClr val="tx1"/>
                </a:solidFill>
                <a:ea typeface="Microsoft YaHei" panose="020B0503020204020204" pitchFamily="34" charset="-122"/>
              </a:rPr>
              <a:t>FastAPI · uvicorn :8000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POST /ask · POST /send-email · GET /charts/{name} · GET /health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0" y="3547872"/>
            <a:ext cx="4069080" cy="914400"/>
          </a:xfrm>
          <a:prstGeom prst="roundRect">
            <a:avLst>
              <a:gd name="adj" fmla="val 8000"/>
            </a:avLst>
          </a:prstGeom>
          <a:solidFill>
            <a:schemeClr val="accent1">
              <a:lumMod val="8000"/>
              <a:lumOff val="92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49039" y="3584448"/>
            <a:ext cx="393192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sz="750">
                <a:solidFill>
                  <a:schemeClr val="accent1"/>
                </a:solidFill>
                <a:latin typeface="Consolas"/>
                <a:ea typeface="Microsoft YaHei" panose="020B0503020204020204" pitchFamily="34" charset="-122"/>
              </a:rPr>
              <a:t>Microsoft Agent Framework · SequentialBuilder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49039" y="3813048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9" name="Picture 38" descr="TbRobot_70257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8768" y="3904487"/>
            <a:ext cx="237744" cy="23774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169663" y="3849624"/>
            <a:ext cx="1307592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950" b="1">
                <a:solidFill>
                  <a:schemeClr val="tx1"/>
                </a:solidFill>
                <a:ea typeface="Microsoft YaHei" panose="020B0503020204020204" pitchFamily="34" charset="-122"/>
              </a:rPr>
              <a:t>AssistantAgent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grounded 作答 · 聚合交给服务端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52160" y="3813048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42" name="Picture 41" descr="TbRobot_70257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1888" y="3904487"/>
            <a:ext cx="237744" cy="2377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72784" y="3849624"/>
            <a:ext cx="1307591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950" b="1">
                <a:solidFill>
                  <a:schemeClr val="tx1"/>
                </a:solidFill>
                <a:ea typeface="Microsoft YaHei" panose="020B0503020204020204" pitchFamily="34" charset="-122"/>
              </a:rPr>
              <a:t>DataAnalystAgent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Monty CodeAct · 进程内执行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550408" y="4114800"/>
            <a:ext cx="283464" cy="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sp>
        <p:nvSpPr>
          <p:cNvPr id="45" name="TextBox 44"/>
          <p:cNvSpPr txBox="1"/>
          <p:nvPr/>
        </p:nvSpPr>
        <p:spPr>
          <a:xfrm>
            <a:off x="5422392" y="3904487"/>
            <a:ext cx="548640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lang="zh-CN" altLang="en-US" sz="650">
                <a:solidFill>
                  <a:schemeClr val="accent1"/>
                </a:solidFill>
                <a:ea typeface="Microsoft YaHei" panose="020B0503020204020204" pitchFamily="34" charset="-122"/>
              </a:rPr>
              <a:t>交接契约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636008" y="4379976"/>
            <a:ext cx="0" cy="329184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47" name="TextBox 46"/>
          <p:cNvSpPr txBox="1"/>
          <p:nvPr/>
        </p:nvSpPr>
        <p:spPr>
          <a:xfrm>
            <a:off x="4709160" y="4443984"/>
            <a:ext cx="91440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sz="800" b="1">
                <a:solidFill>
                  <a:schemeClr val="accent3"/>
                </a:solidFill>
                <a:ea typeface="Microsoft YaHei" panose="020B0503020204020204" pitchFamily="34" charset="-122"/>
              </a:rPr>
              <a:t>③ stdio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39128" y="4379976"/>
            <a:ext cx="0" cy="329184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49" name="TextBox 48"/>
          <p:cNvSpPr txBox="1"/>
          <p:nvPr/>
        </p:nvSpPr>
        <p:spPr>
          <a:xfrm>
            <a:off x="6812280" y="4443984"/>
            <a:ext cx="109728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lang="zh-CN" altLang="en-US" sz="800" b="1">
                <a:solidFill>
                  <a:schemeClr val="accent3"/>
                </a:solidFill>
                <a:ea typeface="Microsoft YaHei" panose="020B0503020204020204" pitchFamily="34" charset="-122"/>
              </a:rPr>
              <a:t>⑤ 沙箱内调用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0" y="4709160"/>
            <a:ext cx="1965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accent3">
                <a:lumMod val="30000"/>
                <a:lumOff val="7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1" name="Picture 50" descr="TbPlugConnected_0078D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7328" y="4800600"/>
            <a:ext cx="237744" cy="23774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078224" y="4745736"/>
            <a:ext cx="1490472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950" b="1">
                <a:solidFill>
                  <a:schemeClr val="tx1"/>
                </a:solidFill>
                <a:ea typeface="Microsoft YaHei" panose="020B0503020204020204" pitchFamily="34" charset="-122"/>
              </a:rPr>
              <a:t>MCP Server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stdio 子进程 · FastMCP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ea typeface="Microsoft YaHei" panose="020B0503020204020204" pitchFamily="34" charset="-122"/>
              </a:rPr>
              <a:t>7 个工具（含 Lab 02 的 top_n）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720" y="4709160"/>
            <a:ext cx="1965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accent3">
                <a:lumMod val="30000"/>
                <a:lumOff val="7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4" name="Picture 53" descr="TbChartBar_0078D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0448" y="4800600"/>
            <a:ext cx="237744" cy="23774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181344" y="4745736"/>
            <a:ext cx="1490471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lang="zh-CN" altLang="en-US" sz="950" b="1">
                <a:solidFill>
                  <a:schemeClr val="tx1"/>
                </a:solidFill>
                <a:ea typeface="Microsoft YaHei" panose="020B0503020204020204" pitchFamily="34" charset="-122"/>
              </a:rPr>
              <a:t>render_chart 宿主工具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ea typeface="Microsoft YaHei" panose="020B0503020204020204" pitchFamily="34" charset="-122"/>
              </a:rPr>
              <a:t>matplotlib（沙箱装不了）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→ ontology_charts/*.png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636008" y="5422392"/>
            <a:ext cx="0" cy="22860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57" name="TextBox 56"/>
          <p:cNvSpPr txBox="1"/>
          <p:nvPr/>
        </p:nvSpPr>
        <p:spPr>
          <a:xfrm>
            <a:off x="4709160" y="5422392"/>
            <a:ext cx="91440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lang="zh-CN" altLang="en-US" sz="800">
                <a:solidFill>
                  <a:schemeClr val="tx1">
                    <a:lumMod val="65000"/>
                    <a:lumOff val="35000"/>
                  </a:schemeClr>
                </a:solidFill>
                <a:ea typeface="Microsoft YaHei" panose="020B0503020204020204" pitchFamily="34" charset="-122"/>
              </a:rPr>
              <a:t>解析绑定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739128" y="5422392"/>
            <a:ext cx="0" cy="22860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triangle" w="med" len="med"/>
          </a:ln>
        </p:spPr>
      </p:cxnSp>
      <p:sp>
        <p:nvSpPr>
          <p:cNvPr id="59" name="Rounded Rectangle 58"/>
          <p:cNvSpPr/>
          <p:nvPr/>
        </p:nvSpPr>
        <p:spPr>
          <a:xfrm>
            <a:off x="3657600" y="5650992"/>
            <a:ext cx="19659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3">
                <a:lumMod val="30000"/>
                <a:lumOff val="7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60" name="Picture 59" descr="TbHierarchy2_0078D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7328" y="5742431"/>
            <a:ext cx="237744" cy="23774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4078224" y="5687568"/>
            <a:ext cx="1490472" cy="60350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lang="zh-CN" altLang="en-US" sz="950" b="1">
                <a:solidFill>
                  <a:schemeClr val="tx1"/>
                </a:solidFill>
                <a:ea typeface="Microsoft YaHei" panose="020B0503020204020204" pitchFamily="34" charset="-122"/>
              </a:rPr>
              <a:t>dataIQ 本体与数据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4 实体 · 3 关系 · frontier.rdf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ontology.json · 绑定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760720" y="5650992"/>
            <a:ext cx="19659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63" name="Picture 62" descr="TbTerminal2_091F2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70448" y="5742431"/>
            <a:ext cx="237744" cy="23774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181344" y="5687568"/>
            <a:ext cx="1490471" cy="60350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lang="zh-CN" altLang="en-US" sz="950" b="1">
                <a:solidFill>
                  <a:schemeClr val="tx1"/>
                </a:solidFill>
                <a:ea typeface="Microsoft YaHei" panose="020B0503020204020204" pitchFamily="34" charset="-122"/>
              </a:rPr>
              <a:t>ACA 动态会话池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ACA_SESSION_POOL_ENDPOINT</a:t>
            </a:r>
          </a:p>
          <a:p>
            <a:pPr>
              <a:spcBef>
                <a:spcPts val="100"/>
              </a:spcBef>
            </a:pPr>
            <a:r>
              <a:rPr lang="zh-CN" altLang="en-US" sz="700">
                <a:solidFill>
                  <a:schemeClr val="tx1">
                    <a:lumMod val="65000"/>
                    <a:lumOff val="35000"/>
                  </a:schemeClr>
                </a:solidFill>
                <a:ea typeface="Microsoft YaHei" panose="020B0503020204020204" pitchFamily="34" charset="-122"/>
              </a:rPr>
              <a:t>已注入环境变量 · 无代码读取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41080" y="1234440"/>
            <a:ext cx="2962656" cy="5257800"/>
          </a:xfrm>
          <a:prstGeom prst="roundRect">
            <a:avLst>
              <a:gd name="adj" fmla="val 3086"/>
            </a:avLst>
          </a:prstGeom>
          <a:noFill/>
          <a:ln w="9525">
            <a:solidFill>
              <a:schemeClr val="tx1">
                <a:lumMod val="40000"/>
                <a:lumOff val="60000"/>
              </a:schemeClr>
            </a:solidFill>
            <a:prstDash val="dash"/>
          </a:ln>
        </p:spPr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32520" y="1298448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lang="zh-CN" altLang="en-US" sz="1000" b="1">
                <a:solidFill>
                  <a:schemeClr val="tx1"/>
                </a:solidFill>
                <a:ea typeface="Microsoft YaHei" panose="020B0503020204020204" pitchFamily="34" charset="-122"/>
              </a:rPr>
              <a:t>平台与横切服务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21240" y="1344168"/>
            <a:ext cx="164592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lang="zh-CN" altLang="en-US" sz="700">
                <a:solidFill>
                  <a:schemeClr val="tx1">
                    <a:lumMod val="65000"/>
                    <a:lumOff val="35000"/>
                  </a:schemeClr>
                </a:solidFill>
                <a:ea typeface="Microsoft YaHei" panose="020B0503020204020204" pitchFamily="34" charset="-122"/>
              </a:rPr>
              <a:t>讲师会前预置 · 学员只做应用层部署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732520" y="1645920"/>
            <a:ext cx="2779776" cy="841248"/>
          </a:xfrm>
          <a:prstGeom prst="roundRect">
            <a:avLst>
              <a:gd name="adj" fmla="val 8695"/>
            </a:avLst>
          </a:prstGeom>
          <a:solidFill>
            <a:schemeClr val="bg1"/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69" name="Picture 68" descr="TbId_70257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42248" y="1737360"/>
            <a:ext cx="237744" cy="237744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53144" y="1682496"/>
            <a:ext cx="2304287" cy="7863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950" b="1">
                <a:solidFill>
                  <a:schemeClr val="tx1"/>
                </a:solidFill>
                <a:ea typeface="Microsoft YaHei" panose="020B0503020204020204" pitchFamily="34" charset="-122"/>
              </a:rPr>
              <a:t>Microsoft Entra ID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ea typeface="Microsoft YaHei" panose="020B0503020204020204" pitchFamily="34" charset="-122"/>
              </a:rPr>
              <a:t>工作负载身份 · 联邦凭据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subject: system:serviceaccount:opc-iq:opc-agents-sa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32520" y="2606040"/>
            <a:ext cx="2779776" cy="841248"/>
          </a:xfrm>
          <a:prstGeom prst="roundRect">
            <a:avLst>
              <a:gd name="adj" fmla="val 8695"/>
            </a:avLst>
          </a:prstGeom>
          <a:solidFill>
            <a:schemeClr val="bg1"/>
          </a:solidFill>
          <a:ln w="952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72" name="Picture 71" descr="TbMail_C03BC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42248" y="2697480"/>
            <a:ext cx="237744" cy="23774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153144" y="2642616"/>
            <a:ext cx="2304287" cy="7863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950" b="1">
                <a:solidFill>
                  <a:schemeClr val="tx1"/>
                </a:solidFill>
                <a:ea typeface="Microsoft YaHei" panose="020B0503020204020204" pitchFamily="34" charset="-122"/>
              </a:rPr>
              <a:t>Azure Communication Services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ea typeface="Microsoft YaHei" panose="020B0503020204020204" pitchFamily="34" charset="-122"/>
              </a:rPr>
              <a:t>Email · 托管域名 · Lab 04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配额 30 封/分 · 100 封/时 · 全场共享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32520" y="3566160"/>
            <a:ext cx="2779776" cy="841248"/>
          </a:xfrm>
          <a:prstGeom prst="roundRect">
            <a:avLst>
              <a:gd name="adj" fmla="val 8695"/>
            </a:avLst>
          </a:prstGeom>
          <a:solidFill>
            <a:schemeClr val="bg1"/>
          </a:solidFill>
          <a:ln w="9525"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75" name="Picture 74" descr="TbSparkles_0078D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42248" y="3657600"/>
            <a:ext cx="237744" cy="237744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153144" y="3602736"/>
            <a:ext cx="2304287" cy="7863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950" b="1">
                <a:solidFill>
                  <a:schemeClr val="tx1"/>
                </a:solidFill>
                <a:ea typeface="Microsoft YaHei" panose="020B0503020204020204" pitchFamily="34" charset="-122"/>
              </a:rPr>
              <a:t>Azure AI Foundry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ea typeface="Microsoft YaHei" panose="020B0503020204020204" pitchFamily="34" charset="-122"/>
              </a:rPr>
              <a:t>Azure OpenAI 部署 · 两个智能体共用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DefaultAzureCredential → 集群内换取令牌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32520" y="4526280"/>
            <a:ext cx="2779776" cy="841248"/>
          </a:xfrm>
          <a:prstGeom prst="roundRect">
            <a:avLst>
              <a:gd name="adj" fmla="val 8695"/>
            </a:avLst>
          </a:prstGeom>
          <a:solidFill>
            <a:schemeClr val="bg1"/>
          </a:solidFill>
          <a:ln w="952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78" name="Picture 77" descr="TbStack2_225B6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42248" y="4617720"/>
            <a:ext cx="237744" cy="23774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153144" y="4562856"/>
            <a:ext cx="2304287" cy="7863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950" b="1">
                <a:solidFill>
                  <a:schemeClr val="tx1"/>
                </a:solidFill>
                <a:ea typeface="Microsoft YaHei" panose="020B0503020204020204" pitchFamily="34" charset="-122"/>
              </a:rPr>
              <a:t>Azure Container Registry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Microsoft YaHei" panose="020B0503020204020204" pitchFamily="34" charset="-122"/>
              </a:rPr>
              <a:t>opc-agents:workshop · opc-app:workshop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32520" y="5486400"/>
            <a:ext cx="2779776" cy="841248"/>
          </a:xfrm>
          <a:prstGeom prst="roundRect">
            <a:avLst>
              <a:gd name="adj" fmla="val 8695"/>
            </a:avLst>
          </a:prstGeom>
          <a:solidFill>
            <a:schemeClr val="bg1"/>
          </a:solidFill>
          <a:ln w="9525"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1" name="Picture 80" descr="TbChartLine_0078D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42248" y="5577840"/>
            <a:ext cx="237744" cy="237744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153144" y="5522976"/>
            <a:ext cx="2304287" cy="7863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r>
              <a:rPr sz="950" b="1">
                <a:solidFill>
                  <a:schemeClr val="tx1"/>
                </a:solidFill>
                <a:ea typeface="Microsoft YaHei" panose="020B0503020204020204" pitchFamily="34" charset="-122"/>
              </a:rPr>
              <a:t>Log Analytics · Azure Monitor</a:t>
            </a:r>
          </a:p>
          <a:p>
            <a:pPr>
              <a:spcBef>
                <a:spcPts val="100"/>
              </a:spcBef>
            </a:pPr>
            <a:r>
              <a:rPr lang="zh-CN" altLang="en-US" sz="750">
                <a:solidFill>
                  <a:schemeClr val="tx1">
                    <a:lumMod val="65000"/>
                    <a:lumOff val="35000"/>
                  </a:schemeClr>
                </a:solidFill>
                <a:ea typeface="Microsoft YaHei" panose="020B0503020204020204" pitchFamily="34" charset="-122"/>
              </a:rPr>
              <a:t>集群日志与指标 · 14 天软删除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863840" y="2011680"/>
            <a:ext cx="850392" cy="0"/>
          </a:xfrm>
          <a:prstGeom prst="line">
            <a:avLst/>
          </a:prstGeom>
          <a:ln w="15875">
            <a:solidFill>
              <a:schemeClr val="tx1">
                <a:lumMod val="70000"/>
                <a:lumOff val="30000"/>
              </a:schemeClr>
            </a:solidFill>
            <a:tailEnd type="triangle" w="med" len="med"/>
          </a:ln>
        </p:spPr>
      </p:cxnSp>
      <p:sp>
        <p:nvSpPr>
          <p:cNvPr id="84" name="TextBox 83"/>
          <p:cNvSpPr txBox="1"/>
          <p:nvPr/>
        </p:nvSpPr>
        <p:spPr>
          <a:xfrm>
            <a:off x="7882127" y="1764792"/>
            <a:ext cx="822960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lang="zh-CN" altLang="en-US" sz="750">
                <a:solidFill>
                  <a:schemeClr val="tx1">
                    <a:lumMod val="80000"/>
                    <a:lumOff val="20000"/>
                  </a:schemeClr>
                </a:solidFill>
                <a:ea typeface="Microsoft YaHei" panose="020B0503020204020204" pitchFamily="34" charset="-122"/>
              </a:rPr>
              <a:t>联邦凭据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726679" y="3163824"/>
            <a:ext cx="987553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86" name="TextBox 85"/>
          <p:cNvSpPr txBox="1"/>
          <p:nvPr/>
        </p:nvSpPr>
        <p:spPr>
          <a:xfrm>
            <a:off x="7882127" y="2916936"/>
            <a:ext cx="822960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lang="zh-CN" altLang="en-US" sz="750" b="1">
                <a:solidFill>
                  <a:schemeClr val="accent3"/>
                </a:solidFill>
                <a:ea typeface="Microsoft YaHei" panose="020B0503020204020204" pitchFamily="34" charset="-122"/>
              </a:rPr>
              <a:t>⑥ 发邮件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82127" y="3191256"/>
            <a:ext cx="822960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lang="zh-CN" altLang="en-US" sz="700" b="1">
                <a:solidFill>
                  <a:schemeClr val="accent2"/>
                </a:solidFill>
                <a:ea typeface="Microsoft YaHei" panose="020B0503020204020204" pitchFamily="34" charset="-122"/>
              </a:rPr>
              <a:t>有密钥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635240" y="4114800"/>
            <a:ext cx="1078992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89" name="TextBox 88"/>
          <p:cNvSpPr txBox="1"/>
          <p:nvPr/>
        </p:nvSpPr>
        <p:spPr>
          <a:xfrm>
            <a:off x="7882127" y="3867912"/>
            <a:ext cx="822960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lang="zh-CN" altLang="en-US" sz="750" b="1">
                <a:solidFill>
                  <a:schemeClr val="accent3"/>
                </a:solidFill>
                <a:ea typeface="Microsoft YaHei" panose="020B0503020204020204" pitchFamily="34" charset="-122"/>
              </a:rPr>
              <a:t>④ 推理调用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82127" y="4142232"/>
            <a:ext cx="822960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lang="zh-CN" altLang="en-US" sz="700">
                <a:solidFill>
                  <a:schemeClr val="tx1">
                    <a:lumMod val="65000"/>
                    <a:lumOff val="35000"/>
                  </a:schemeClr>
                </a:solidFill>
                <a:ea typeface="Microsoft YaHei" panose="020B0503020204020204" pitchFamily="34" charset="-122"/>
              </a:rPr>
              <a:t>无 API Key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7863840" y="5074920"/>
            <a:ext cx="850392" cy="0"/>
          </a:xfrm>
          <a:prstGeom prst="line">
            <a:avLst/>
          </a:prstGeom>
          <a:ln w="15875">
            <a:solidFill>
              <a:schemeClr val="tx1">
                <a:lumMod val="70000"/>
                <a:lumOff val="30000"/>
              </a:schemeClr>
            </a:solidFill>
            <a:tailEnd type="triangle" w="med" len="med"/>
          </a:ln>
        </p:spPr>
      </p:cxnSp>
      <p:sp>
        <p:nvSpPr>
          <p:cNvPr id="92" name="TextBox 91"/>
          <p:cNvSpPr txBox="1"/>
          <p:nvPr/>
        </p:nvSpPr>
        <p:spPr>
          <a:xfrm>
            <a:off x="7882127" y="4828031"/>
            <a:ext cx="822960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lang="zh-CN" altLang="en-US" sz="750">
                <a:solidFill>
                  <a:schemeClr val="tx1">
                    <a:lumMod val="80000"/>
                    <a:lumOff val="20000"/>
                  </a:schemeClr>
                </a:solidFill>
                <a:ea typeface="Microsoft YaHei" panose="020B0503020204020204" pitchFamily="34" charset="-122"/>
              </a:rPr>
              <a:t>拉取镜像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8001000" y="5943600"/>
            <a:ext cx="713232" cy="0"/>
          </a:xfrm>
          <a:prstGeom prst="line">
            <a:avLst/>
          </a:prstGeom>
          <a:ln w="15875">
            <a:solidFill>
              <a:schemeClr val="tx1">
                <a:lumMod val="70000"/>
                <a:lumOff val="30000"/>
              </a:schemeClr>
            </a:solidFill>
            <a:tailEnd type="triangle" w="med" len="med"/>
          </a:ln>
        </p:spPr>
      </p:cxnSp>
      <p:sp>
        <p:nvSpPr>
          <p:cNvPr id="94" name="TextBox 93"/>
          <p:cNvSpPr txBox="1"/>
          <p:nvPr/>
        </p:nvSpPr>
        <p:spPr>
          <a:xfrm>
            <a:off x="7882127" y="5696712"/>
            <a:ext cx="822960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/>
            <a:r>
              <a:rPr lang="zh-CN" altLang="en-US" sz="750">
                <a:solidFill>
                  <a:schemeClr val="tx1">
                    <a:lumMod val="80000"/>
                    <a:lumOff val="20000"/>
                  </a:schemeClr>
                </a:solidFill>
                <a:ea typeface="Microsoft YaHei" panose="020B0503020204020204" pitchFamily="34" charset="-122"/>
              </a:rPr>
              <a:t>日志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一次提问 · 端到端五跳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BB9F1-5308-0B00-E6C0-EC75DC1337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技术架构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1481328"/>
          <a:ext cx="11064240" cy="329184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阶段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发生了什么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①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提问  Ask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浏览器 → HTTPS → Web 应用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②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路由  Route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nginx 把 /ask 反向代理到 AKS 上的智能体服务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③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理解  Ground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AssistantAgent 经 MCP 查本体与关系，取回事实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④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分析  Analyze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DataAnalystAgent 在沙箱写 Python，调宿主工具 render_chart 出图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⑤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作答  Answer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答案与图表回传，浏览器直接渲染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6928" y="49377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chemeClr val="accent1"/>
                </a:solidFill>
                <a:ea typeface="Microsoft YaHei" panose="020B0503020204020204" pitchFamily="34" charset="-122"/>
              </a:rPr>
              <a:t>答案里的每个数字都来自 MCP 的服务端聚合 —— 模型不做算术。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>
            <a:off x="585216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786384" y="1554480"/>
            <a:ext cx="566928" cy="566928"/>
          </a:xfrm>
          <a:prstGeom prst="ellipse">
            <a:avLst/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0" name="Picture 49" descr="TbLayersIntersect_0078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42" y="1682038"/>
            <a:ext cx="311810" cy="31181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3389406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3590574" y="1554480"/>
            <a:ext cx="566928" cy="566928"/>
          </a:xfrm>
          <a:prstGeom prst="ellipse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3" name="Picture 52" descr="TbPlugConnected_7025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133" y="1682038"/>
            <a:ext cx="311810" cy="311810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6193596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5" name="Oval 54"/>
          <p:cNvSpPr/>
          <p:nvPr/>
        </p:nvSpPr>
        <p:spPr>
          <a:xfrm>
            <a:off x="6394764" y="1554480"/>
            <a:ext cx="566928" cy="566928"/>
          </a:xfrm>
          <a:prstGeom prst="ellipse">
            <a:avLst/>
          </a:prstGeom>
          <a:solidFill>
            <a:schemeClr val="accent5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6" name="Picture 55" descr="TbCalculator_225B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323" y="1682038"/>
            <a:ext cx="311810" cy="31181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8997787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8" name="Oval 57"/>
          <p:cNvSpPr/>
          <p:nvPr/>
        </p:nvSpPr>
        <p:spPr>
          <a:xfrm>
            <a:off x="9198955" y="1554480"/>
            <a:ext cx="566928" cy="566928"/>
          </a:xfrm>
          <a:prstGeom prst="ellipse">
            <a:avLst/>
          </a:prstGeom>
          <a:solidFill>
            <a:schemeClr val="accent2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9" name="Picture 58" descr="TbSandbox_C03B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514" y="1682038"/>
            <a:ext cx="311810" cy="311810"/>
          </a:xfrm>
          <a:prstGeom prst="rect">
            <a:avLst/>
          </a:prstGeo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1F301958-DE5F-4AB2-97F9-69B1699A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四个关键设计 · 不是用了什么，是为什么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0CE6DBD-1659-EA46-9A44-0C5A2F29E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技术架构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A2588-DEEF-4466-B489-C48555FD0A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384" y="3154680"/>
            <a:ext cx="220370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RDF 说「是什么、怎么连」，绑定说「数据在哪、用哪个键连」。换数据源不动本体。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881EA-0B91-4897-8A3A-ED859EA8E9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90574" y="3154680"/>
            <a:ext cx="220370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智能体不读数据文件，只调工具。后端从 JSON 换成 Fabric IQ，智能体一行不改。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ADB5E4-83CF-47EF-AC04-3689C7951E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6384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A 语义与物理分离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586467-7936-4E76-9180-189FF966B5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90574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B MCP 作为解耦点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2F57858-903C-46A9-9906-73E81D0FC7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4764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C 让服务端算数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FF092BA-E74B-41E0-B979-21F5F70228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4764" y="3154680"/>
            <a:ext cx="220370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sum 与 group by 在服务端完成。模型做算术是幻觉高发区，交给代码才敢用。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D63C8E-5E9F-481E-B5AB-59481AA4EE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98955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D 沙箱推理，宿主给能力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D3596B4-05D2-428D-BC8E-D18CB32B42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98955" y="3154680"/>
            <a:ext cx="220370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沙箱装不了 matplotlib（C 扩展），绘图放在宿主。危险操作留在工具边界内。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>
            <a:off x="585216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786384" y="1554480"/>
            <a:ext cx="566928" cy="566928"/>
          </a:xfrm>
          <a:prstGeom prst="ellipse">
            <a:avLst/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0" name="Picture 49" descr="TbCube_0078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42" y="1682038"/>
            <a:ext cx="311810" cy="31181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3389406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3590574" y="1554480"/>
            <a:ext cx="566928" cy="566928"/>
          </a:xfrm>
          <a:prstGeom prst="ellipse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3" name="Picture 52" descr="TbTag_7025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133" y="1682038"/>
            <a:ext cx="311810" cy="311810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6193596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5" name="Oval 54"/>
          <p:cNvSpPr/>
          <p:nvPr/>
        </p:nvSpPr>
        <p:spPr>
          <a:xfrm>
            <a:off x="6394764" y="1554480"/>
            <a:ext cx="566928" cy="566928"/>
          </a:xfrm>
          <a:prstGeom prst="ellipse">
            <a:avLst/>
          </a:prstGeom>
          <a:solidFill>
            <a:schemeClr val="accent5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6" name="Picture 55" descr="TbLink_225B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323" y="1682038"/>
            <a:ext cx="311810" cy="31181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8997787" y="132588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8" name="Oval 57"/>
          <p:cNvSpPr/>
          <p:nvPr/>
        </p:nvSpPr>
        <p:spPr>
          <a:xfrm>
            <a:off x="9198955" y="1554480"/>
            <a:ext cx="566928" cy="566928"/>
          </a:xfrm>
          <a:prstGeom prst="ellipse">
            <a:avLst/>
          </a:prstGeom>
          <a:solidFill>
            <a:schemeClr val="accent2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9" name="Picture 58" descr="TbArrowsExchange_C03B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514" y="1682038"/>
            <a:ext cx="311810" cy="311810"/>
          </a:xfrm>
          <a:prstGeom prst="rect">
            <a:avLst/>
          </a:prstGeo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1F301958-DE5F-4AB2-97F9-69B1699A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本体的四个概念 · Fabric IQ 在本仓库的落点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0CE6DBD-1659-EA46-9A44-0C5A2F29E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技术架构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A2588-DEEF-4466-B489-C48555FD0A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384" y="3154680"/>
            <a:ext cx="2203704" cy="2651760"/>
          </a:xfrm>
        </p:spPr>
        <p:txBody>
          <a:bodyPr/>
          <a:lstStyle/>
          <a:p>
            <a:r>
              <a:rPr lang="zh-CN" altLang="en-US" sz="1600">
                <a:ea typeface="Microsoft YaHei" panose="020B0503020204020204" pitchFamily="34" charset="-122"/>
              </a:rPr>
              <a:t>opc.rdf 里的 owl:Class。</a:t>
            </a:r>
          </a:p>
          <a:p>
            <a:r>
              <a:rPr lang="zh-CN" altLang="en-US" sz="1600">
                <a:ea typeface="Microsoft YaHei" panose="020B0503020204020204" pitchFamily="34" charset="-122"/>
              </a:rPr>
              <a:t>本课三个：Project · BankAccount · Task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881EA-0B91-4897-8A3A-ED859EA8E9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90574" y="3154680"/>
            <a:ext cx="2203704" cy="2651760"/>
          </a:xfrm>
        </p:spPr>
        <p:txBody>
          <a:bodyPr/>
          <a:lstStyle/>
          <a:p>
            <a:r>
              <a:rPr lang="zh-CN" altLang="en-US" sz="1600">
                <a:ea typeface="Microsoft YaHei" panose="020B0503020204020204" pitchFamily="34" charset="-122"/>
              </a:rPr>
              <a:t>owl:DatatypeProperty。</a:t>
            </a:r>
          </a:p>
          <a:p>
            <a:r>
              <a:rPr lang="zh-CN" altLang="en-US" sz="1600">
                <a:ea typeface="Microsoft YaHei" panose="020B0503020204020204" pitchFamily="34" charset="-122"/>
              </a:rPr>
              <a:t>isIdentifier 标记主键，unit 标记单位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ADB5E4-83CF-47EF-AC04-3689C7951E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6384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实体类型</a:t>
            </a:r>
          </a:p>
          <a:p>
            <a:pPr marL="0" indent="0">
              <a:buNone/>
            </a:pPr>
            <a:r>
              <a:rPr>
                <a:solidFill>
                  <a:schemeClr val="accent1"/>
                </a:solidFill>
                <a:ea typeface="Microsoft YaHei" panose="020B0503020204020204" pitchFamily="34" charset="-122"/>
              </a:rPr>
              <a:t>Entity Type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586467-7936-4E76-9180-189FF966B5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90574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属性</a:t>
            </a:r>
          </a:p>
          <a:p>
            <a:pPr marL="0" indent="0">
              <a:buNone/>
            </a:pPr>
            <a:r>
              <a:rPr>
                <a:solidFill>
                  <a:schemeClr val="accent1"/>
                </a:solidFill>
                <a:ea typeface="Microsoft YaHei" panose="020B0503020204020204" pitchFamily="34" charset="-122"/>
              </a:rPr>
              <a:t>Property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2F57858-903C-46A9-9906-73E81D0FC7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4764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关系</a:t>
            </a:r>
          </a:p>
          <a:p>
            <a:pPr marL="0" indent="0">
              <a:buNone/>
            </a:pPr>
            <a:r>
              <a:rPr>
                <a:solidFill>
                  <a:schemeClr val="accent1"/>
                </a:solidFill>
                <a:ea typeface="Microsoft YaHei" panose="020B0503020204020204" pitchFamily="34" charset="-122"/>
              </a:rPr>
              <a:t>Relationship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FF092BA-E74B-41E0-B979-21F5F70228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4764" y="3154680"/>
            <a:ext cx="2203704" cy="2651760"/>
          </a:xfrm>
        </p:spPr>
        <p:txBody>
          <a:bodyPr/>
          <a:lstStyle/>
          <a:p>
            <a:r>
              <a:rPr lang="zh-CN" altLang="en-US" sz="1600">
                <a:ea typeface="Microsoft YaHei" panose="020B0503020204020204" pitchFamily="34" charset="-122"/>
              </a:rPr>
              <a:t>owl:ObjectProperty，带 cardinality。</a:t>
            </a:r>
          </a:p>
          <a:p>
            <a:r>
              <a:rPr lang="zh-CN" altLang="en-US" sz="1600">
                <a:ea typeface="Microsoft YaHei" panose="020B0503020204020204" pitchFamily="34" charset="-122"/>
              </a:rPr>
              <a:t>两条：funds 1:N · has_task 1:N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D63C8E-5E9F-481E-B5AB-59481AA4EE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98955" y="2286000"/>
            <a:ext cx="220370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数据绑定</a:t>
            </a:r>
          </a:p>
          <a:p>
            <a:pPr marL="0" indent="0">
              <a:buNone/>
            </a:pPr>
            <a:r>
              <a:rPr>
                <a:solidFill>
                  <a:schemeClr val="accent1"/>
                </a:solidFill>
                <a:ea typeface="Microsoft YaHei" panose="020B0503020204020204" pitchFamily="34" charset="-122"/>
              </a:rPr>
              <a:t>Data Binding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D3596B4-05D2-428D-BC8E-D18CB32B42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98955" y="3154680"/>
            <a:ext cx="2203704" cy="2651760"/>
          </a:xfrm>
        </p:spPr>
        <p:txBody>
          <a:bodyPr/>
          <a:lstStyle/>
          <a:p>
            <a:r>
              <a:rPr lang="zh-CN" altLang="en-US" sz="1600">
                <a:ea typeface="Microsoft YaHei" panose="020B0503020204020204" pitchFamily="34" charset="-122"/>
              </a:rPr>
              <a:t>data-bindings.json。</a:t>
            </a:r>
          </a:p>
          <a:p>
            <a:r>
              <a:rPr lang="zh-CN" altLang="en-US" sz="1600">
                <a:ea typeface="Microsoft YaHei" panose="020B0503020204020204" pitchFamily="34" charset="-122"/>
              </a:rPr>
              <a:t>实体 → 数据源，关系 → 外键</a:t>
            </a:r>
          </a:p>
          <a:p>
            <a:r>
              <a:rPr lang="zh-CN" altLang="en-US" sz="1600">
                <a:ea typeface="Microsoft YaHei" panose="020B0503020204020204" pitchFamily="34" charset="-122"/>
              </a:rPr>
              <a:t>迁移只改 source.path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微软技术地图 · 每项技术扮演什么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BB9F1-5308-0B00-E6C0-EC75DC1337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技术架构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1481328"/>
          <a:ext cx="11064240" cy="400507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50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微软技术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角色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在本课扮演什么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出现在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Microsoft Fabric IQ 本体概念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知识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让系统读得懂业务关系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01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MCP · Model Context Protocol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接口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智能体与知识层的标准接口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02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GitHub Copilot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开发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第一个 MCP 客户端，也是施工伙伴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02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Microsoft Agent Framework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编排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SequentialBuilder 串起双智能体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03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Azure AI Foundry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推理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提供模型能力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03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Monty CodeAct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执行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沙箱化代码执行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03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FastAPI + Container Apps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应用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对外的 Copilot 入口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04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Azure Communication Services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通知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把结论发给干系人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04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AKS + Entra 工作负载身份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运行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规模化承载，无密码调用模型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Lab 05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6928" y="56509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chemeClr val="accent1"/>
                </a:solidFill>
                <a:ea typeface="Microsoft YaHei" panose="020B0503020204020204" pitchFamily="34" charset="-122"/>
              </a:rPr>
              <a:t>Fabric IQ 让系统读得懂 · Foundry 让智能体想得通 · Copilot 陪你搭起来 · AKS 让它跑得动。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67E3-9B6E-DC3C-7295-22DF4DD72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· 六个 Lab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43DD8-5F07-B69F-E937-4ED19B1CBC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8772" y="3977319"/>
            <a:ext cx="4177284" cy="246221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分别做什么，怎么验收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六个 Lab · 一张表看完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BB9F1-5308-0B00-E6C0-EC75DC1337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六个实验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1481328"/>
          <a:ext cx="11064240" cy="384048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Lab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时长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做什么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chemeClr val="bg1"/>
                          </a:solidFill>
                          <a:ea typeface="Microsoft YaHei" panose="020B0503020204020204" pitchFamily="34" charset="-122"/>
                        </a:rPr>
                        <a:t>验收标准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Lab 01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25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定义解决方案，跑通本体查询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selftest 输出 active 105000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Lab 02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30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数据架构：本体 + 绑定 + MCP 工具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6 个工具可被 Copilot 发现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Lab 03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35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创建两个智能体的顺序工作流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离线全绿，--live 出图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Lab 04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20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生成 Copilot 应用与邮件分享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/health 返回 200，页面出图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Lab 05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30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一键部署到 Azure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Web App URL 可访问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accent3"/>
                          </a:solidFill>
                          <a:ea typeface="Microsoft YaHei" panose="020B0503020204020204" pitchFamily="34" charset="-122"/>
                        </a:rPr>
                        <a:t>Lab 05-1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15 min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资源受限版：只部署 Web 应用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solidFill>
                            <a:schemeClr val="tx1"/>
                          </a:solidFill>
                          <a:ea typeface="Microsoft YaHei" panose="020B0503020204020204" pitchFamily="34" charset="-122"/>
                        </a:rPr>
                        <a:t>自己的 HTTPS 地址出图</a:t>
                      </a:r>
                    </a:p>
                  </a:txBody>
                  <a:tcPr marR="7315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6928" y="54864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400" b="1">
                <a:solidFill>
                  <a:schemeClr val="accent1"/>
                </a:solidFill>
                <a:ea typeface="Microsoft YaHei" panose="020B0503020204020204" pitchFamily="34" charset="-122"/>
              </a:rPr>
              <a:t>Lab 01 / 02 / 03 / 05 含动手点。Lab 05 与 05-1 二选一 —— 做了 05 就不必做 05-1。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8A1E48-C74E-4B7C-95F4-2342DAC9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01</a:t>
            </a:r>
            <a:b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定义企业 AI Copilot 解决方案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E4EA-274B-4BE4-9A52-00B5B2697A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216" y="3310128"/>
            <a:ext cx="4160520" cy="310896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accent1"/>
                </a:solidFill>
                <a:ea typeface="Microsoft YaHei" panose="020B0503020204020204" pitchFamily="34" charset="-122"/>
              </a:rPr>
              <a:t>25 分钟 · Fabric IQ 本体概念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目标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看懂五层架构与端到端数据流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建好本地环境，64 个包版本一致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亲手验证本体可以被查询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动手点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同一个业务问题，关掉与打开本体各问一遍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验收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selftest 末行 active 105000 / done 25000</a:t>
            </a:r>
          </a:p>
        </p:txBody>
      </p:sp>
      <p:pic>
        <p:nvPicPr>
          <p:cNvPr id="6" name="Picture Placeholder 5" descr="Microsoft Solutions Day 模板图片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4370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69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F59E7FAB-DAC3-4221-AE7D-1B55BCA2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01 · 步骤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AE3C69-6BB3-A84A-BCA2-E8D1F77811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5" y="1338139"/>
            <a:ext cx="4040185" cy="2000548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① 建虚拟环境并装依赖，必须在 code/ 下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② 拷 .env 模板（本课暂不填）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③ 验证本体可被查询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④ 验证智能体的离线能力</a:t>
            </a:r>
          </a:p>
          <a:p>
            <a:pPr marL="0" indent="0">
              <a:spcBef>
                <a:spcPts val="400"/>
              </a:spcBef>
              <a:buNone/>
            </a:pPr>
            <a:endParaRPr lang="zh-CN" altLang="en-US" sz="1400">
              <a:ea typeface="Microsoft YaHei" panose="020B0503020204020204" pitchFamily="34" charset="-122"/>
            </a:endParaRP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检查点：pip list | wc -l 应为 64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 b="1">
                <a:solidFill>
                  <a:schemeClr val="accent1"/>
                </a:solidFill>
                <a:ea typeface="Microsoft YaHei" panose="020B0503020204020204" pitchFamily="34" charset="-122"/>
              </a:rPr>
              <a:t>IncompleteFieldDefinitionWarning 是正常输出，不是报错。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5D9877-6838-9E47-886F-26028339CB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t>bash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356C9A3-B156-574B-B2DF-9FCF81A25E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sz="1400"/>
              <a:t>cd code</a:t>
            </a:r>
          </a:p>
          <a:p>
            <a:pPr marL="0" indent="0">
              <a:buNone/>
            </a:pPr>
            <a:r>
              <a:rPr sz="1400"/>
              <a:t>python3.12 -m venv .venv</a:t>
            </a:r>
          </a:p>
          <a:p>
            <a:pPr marL="0" indent="0">
              <a:buNone/>
            </a:pPr>
            <a:r>
              <a:rPr sz="1400"/>
              <a:t>source .venv/bin/activate</a:t>
            </a:r>
          </a:p>
          <a:p>
            <a:pPr marL="0" indent="0">
              <a:buNone/>
            </a:pPr>
            <a:r>
              <a:rPr sz="1400"/>
              <a:t>pip install -r mcp/requirements.txt</a:t>
            </a:r>
          </a:p>
          <a:p>
            <a:pPr marL="0" indent="0">
              <a:buNone/>
            </a:pPr>
            <a:r>
              <a:rPr sz="1400"/>
              <a:t>pip install -r agents/requirements.txt</a:t>
            </a:r>
          </a:p>
          <a:p>
            <a:pPr marL="0" indent="0">
              <a:buNone/>
            </a:pPr>
            <a:r>
              <a:rPr sz="1400"/>
              <a:t>cp agents/.env.example agents/.env</a:t>
            </a:r>
          </a:p>
          <a:p>
            <a:pPr marL="0" indent="0">
              <a:buNone/>
            </a:pPr>
            <a:endParaRPr sz="1400"/>
          </a:p>
          <a:p>
            <a:pPr marL="0" indent="0">
              <a:buNone/>
            </a:pPr>
            <a:r>
              <a:rPr sz="1400"/>
              <a:t>python mcp/server.py --selftest</a:t>
            </a:r>
          </a:p>
          <a:p>
            <a:pPr marL="0" indent="0">
              <a:buNone/>
            </a:pPr>
            <a:endParaRPr sz="1400"/>
          </a:p>
          <a:p>
            <a:pPr marL="0" indent="0">
              <a:buNone/>
            </a:pPr>
            <a:r>
              <a:rPr sz="1400"/>
              <a:t>cd agents</a:t>
            </a:r>
          </a:p>
          <a:p>
            <a:pPr marL="0" indent="0">
              <a:buNone/>
            </a:pPr>
            <a:r>
              <a:rPr sz="1400"/>
              <a:t>python test_workflow.py</a:t>
            </a:r>
          </a:p>
        </p:txBody>
      </p:sp>
    </p:spTree>
    <p:extLst>
      <p:ext uri="{BB962C8B-B14F-4D97-AF65-F5344CB8AC3E}">
        <p14:creationId xmlns:p14="http://schemas.microsoft.com/office/powerpoint/2010/main" val="17510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8A1E48-C74E-4B7C-95F4-2342DAC9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01 · 截图位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ED5CB-0F60-480C-8DFA-C6BECBE0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2769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①   --selftest 完整输出，高亮末行 {"active": 105000.0, "done": 25000.0}</a:t>
            </a:r>
          </a:p>
        </p:txBody>
      </p:sp>
      <p:sp>
        <p:nvSpPr>
          <p:cNvPr id="20" name="Picture Placeholder 19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2AF106-638F-4EEC-99B4-EE796C96E1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>
              <a:ea typeface="Microsoft YaHei" panose="020B0503020204020204" pitchFamily="34" charset="-122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E91F6-F618-4448-89FB-05078231BE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②   Copilot 两次回答并排：左边靠命名猜，右边调 get_related 查</a:t>
            </a:r>
          </a:p>
        </p:txBody>
      </p:sp>
      <p:sp>
        <p:nvSpPr>
          <p:cNvPr id="21" name="Picture Placeholder 20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3F13AE1-6DF6-44C8-8E77-DE9482E06D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9075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8A1E48-C74E-4B7C-95F4-2342DAC9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02</a:t>
            </a:r>
            <a:b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数据架构与知识服务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E4EA-274B-4BE4-9A52-00B5B2697A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216" y="3310128"/>
            <a:ext cx="4160520" cy="310896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accent1"/>
                </a:solidFill>
                <a:ea typeface="Microsoft YaHei" panose="020B0503020204020204" pitchFamily="34" charset="-122"/>
              </a:rPr>
              <a:t>30 分钟 · 本体建模 · MCP · Copilot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目标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读懂本体三件套：RDF、绑定、实例数据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在 VS Code 里注册 MCP 服务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让 Copilot 直接查询企业数据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动手点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仿照 aggregate，用 Copilot 加一个新工具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验收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Copilot 能调 get_related 与 aggregate 作答</a:t>
            </a:r>
          </a:p>
        </p:txBody>
      </p:sp>
      <p:pic>
        <p:nvPicPr>
          <p:cNvPr id="6" name="Picture Placeholder 5" descr="Microsoft Solutions Day 模板图片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l="4370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BEE76E7-B042-4BFE-9213-B8FE7EE4C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02 · 步骤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5D9877-6838-9E47-886F-26028339CB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/>
          <a:lstStyle/>
          <a:p>
            <a:pPr marL="0" indent="0">
              <a:buNone/>
            </a:pPr>
            <a:r>
              <a:t>.vscode/mcp.json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356C9A3-B156-574B-B2DF-9FCF81A25E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sz="1400"/>
              <a:t>{</a:t>
            </a:r>
          </a:p>
          <a:p>
            <a:pPr marL="0" indent="0">
              <a:buNone/>
            </a:pPr>
            <a:r>
              <a:rPr sz="1400"/>
              <a:t>  "servers": {</a:t>
            </a:r>
          </a:p>
          <a:p>
            <a:pPr marL="0" indent="0">
              <a:buNone/>
            </a:pPr>
            <a:r>
              <a:rPr sz="1400"/>
              <a:t>    "opc-ontology": {</a:t>
            </a:r>
          </a:p>
          <a:p>
            <a:pPr marL="0" indent="0">
              <a:buNone/>
            </a:pPr>
            <a:r>
              <a:rPr sz="1400"/>
              <a:t>      "type": "stdio",</a:t>
            </a:r>
          </a:p>
          <a:p>
            <a:pPr marL="0" indent="0">
              <a:buNone/>
            </a:pPr>
            <a:r>
              <a:rPr sz="1400"/>
              <a:t>      "command":</a:t>
            </a:r>
          </a:p>
          <a:p>
            <a:pPr marL="0" indent="0">
              <a:buNone/>
            </a:pPr>
            <a:r>
              <a:rPr sz="1400"/>
              <a:t>        "${workspaceFolder}/code/.venv/bin/python",</a:t>
            </a:r>
          </a:p>
          <a:p>
            <a:pPr marL="0" indent="0">
              <a:buNone/>
            </a:pPr>
            <a:r>
              <a:rPr sz="1400"/>
              <a:t>      "args": [</a:t>
            </a:r>
          </a:p>
          <a:p>
            <a:pPr marL="0" indent="0">
              <a:buNone/>
            </a:pPr>
            <a:r>
              <a:rPr sz="1400"/>
              <a:t>        "${workspaceFolder}/code/mcp/server.py"</a:t>
            </a:r>
          </a:p>
          <a:p>
            <a:pPr marL="0" indent="0">
              <a:buNone/>
            </a:pPr>
            <a:r>
              <a:rPr sz="1400"/>
              <a:t>      ]</a:t>
            </a:r>
          </a:p>
          <a:p>
            <a:pPr marL="0" indent="0">
              <a:buNone/>
            </a:pPr>
            <a:r>
              <a:rPr sz="1400"/>
              <a:t>    }</a:t>
            </a:r>
          </a:p>
          <a:p>
            <a:pPr marL="0" indent="0">
              <a:buNone/>
            </a:pPr>
            <a:r>
              <a:rPr sz="1400"/>
              <a:t>  }</a:t>
            </a:r>
          </a:p>
          <a:p>
            <a:pPr marL="0" indent="0">
              <a:buNone/>
            </a:pPr>
            <a:r>
              <a:rPr sz="1400"/>
              <a:t>}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AE3C69-6BB3-A84A-BCA2-E8D1F77811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① 读三件套：opc.rdf · data-bindings.json · data/*.json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② 注册 MCP 服务，VS Code 的顶层键是 servers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③ Copilot Chat 里勾选 opc-ontology 工具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④ 用中文问业务问题，观察它调了哪些工具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⑤ 动手：仿照 aggregate 写一个新工具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 b="1">
                <a:solidFill>
                  <a:schemeClr val="accent1"/>
                </a:solidFill>
                <a:ea typeface="Microsoft YaHei" panose="020B0503020204020204" pitchFamily="34" charset="-122"/>
              </a:rPr>
              <a:t>改完 server.py 必须重启 MCP —— 工具清单只在连接时取一次。</a:t>
            </a:r>
          </a:p>
        </p:txBody>
      </p:sp>
    </p:spTree>
    <p:extLst>
      <p:ext uri="{BB962C8B-B14F-4D97-AF65-F5344CB8AC3E}">
        <p14:creationId xmlns:p14="http://schemas.microsoft.com/office/powerpoint/2010/main" val="330315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8A1E48-C74E-4B7C-95F4-2342DAC9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02 · 截图位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ED5CB-0F60-480C-8DFA-C6BECBE0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2769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③   MCP: List Servers 显示 opc-ontology 已连接，暴露 6 个工具</a:t>
            </a:r>
          </a:p>
        </p:txBody>
      </p:sp>
      <p:sp>
        <p:nvSpPr>
          <p:cNvPr id="20" name="Picture Placeholder 19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2AF106-638F-4EEC-99B4-EE796C96E1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>
              <a:ea typeface="Microsoft YaHei" panose="020B0503020204020204" pitchFamily="34" charset="-122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E91F6-F618-4448-89FB-05078231BE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④   Copilot 调用工具的过程记录，以及最终的表格答案</a:t>
            </a:r>
          </a:p>
        </p:txBody>
      </p:sp>
      <p:sp>
        <p:nvSpPr>
          <p:cNvPr id="21" name="Picture Placeholder 20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3F13AE1-6DF6-44C8-8E77-DE9482E06D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8A1E48-C74E-4B7C-95F4-2342DAC9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03</a:t>
            </a:r>
            <a:b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创建两个智能体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E4EA-274B-4BE4-9A52-00B5B2697A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216" y="3310128"/>
            <a:ext cx="4160520" cy="310896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accent1"/>
                </a:solidFill>
                <a:ea typeface="Microsoft YaHei" panose="020B0503020204020204" pitchFamily="34" charset="-122"/>
              </a:rPr>
              <a:t>35 分钟 · Agent Framework · Monty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目标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理解 SequentialBuilder 如何串联双智能体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AssistantAgent 经 MCP 取事实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DataAnalystAgent 在沙箱里出图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动手点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删掉提示词里的交接契约，看它开始画错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验收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--live 跑出文字答案与 PNG 图表</a:t>
            </a:r>
          </a:p>
        </p:txBody>
      </p:sp>
      <p:pic>
        <p:nvPicPr>
          <p:cNvPr id="6" name="Picture Placeholder 5" descr="Microsoft Solutions Day 模板图片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l="4370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F59E7FAB-DAC3-4221-AE7D-1B55BCA2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03 · 步骤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AE3C69-6BB3-A84A-BCA2-E8D1F77811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5" y="1338139"/>
            <a:ext cx="4040185" cy="2000548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① 在 agents/.env 填 Endpoint 与部署名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② 不用 Key 就 az login，走 Entra 身份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③ 先跑离线，确认绘图与工具发现可用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④ 再跑 --live，由模型串起两个零件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⑤ 动手：改提示词，观察行为变化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 b="1">
                <a:solidFill>
                  <a:schemeClr val="accent1"/>
                </a:solidFill>
                <a:ea typeface="Microsoft YaHei" panose="020B0503020204020204" pitchFamily="34" charset="-122"/>
              </a:rPr>
              <a:t>离线测试的图是硬编码的，真正的数据联动只发生在 --live。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5D9877-6838-9E47-886F-26028339CB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t>bash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356C9A3-B156-574B-B2DF-9FCF81A25E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400"/>
              <a:t># 1) 配置 Azure OpenAI</a:t>
            </a:r>
          </a:p>
          <a:p>
            <a:pPr marL="0" indent="0">
              <a:buNone/>
            </a:pPr>
            <a:r>
              <a:rPr sz="1400"/>
              <a:t>vi agents/.env</a:t>
            </a:r>
          </a:p>
          <a:p>
            <a:pPr marL="0" indent="0">
              <a:buNone/>
            </a:pPr>
            <a:r>
              <a:rPr sz="1400"/>
              <a:t>#   AZURE_OPENAI_ENDPOINT=...</a:t>
            </a:r>
          </a:p>
          <a:p>
            <a:pPr marL="0" indent="0">
              <a:buNone/>
            </a:pPr>
            <a:r>
              <a:rPr sz="1400"/>
              <a:t>#   AZURE_OPENAI_MODEL=...</a:t>
            </a:r>
          </a:p>
          <a:p>
            <a:pPr marL="0" indent="0">
              <a:buNone/>
            </a:pPr>
            <a:endParaRPr sz="1400"/>
          </a:p>
          <a:p>
            <a:pPr marL="0" indent="0">
              <a:buNone/>
            </a:pPr>
            <a:r>
              <a:rPr lang="zh-CN" altLang="en-US" sz="1400"/>
              <a:t># 2) 离线：验证两个零件</a:t>
            </a:r>
          </a:p>
          <a:p>
            <a:pPr marL="0" indent="0">
              <a:buNone/>
            </a:pPr>
            <a:r>
              <a:rPr sz="1400"/>
              <a:t>cd agents</a:t>
            </a:r>
          </a:p>
          <a:p>
            <a:pPr marL="0" indent="0">
              <a:buNone/>
            </a:pPr>
            <a:r>
              <a:rPr sz="1400"/>
              <a:t>python test_workflow.py</a:t>
            </a:r>
          </a:p>
          <a:p>
            <a:pPr marL="0" indent="0">
              <a:buNone/>
            </a:pPr>
            <a:endParaRPr sz="1400"/>
          </a:p>
          <a:p>
            <a:pPr marL="0" indent="0">
              <a:buNone/>
            </a:pPr>
            <a:r>
              <a:rPr lang="zh-CN" altLang="en-US" sz="1400"/>
              <a:t># 3) 在线：让模型接起来</a:t>
            </a:r>
          </a:p>
          <a:p>
            <a:pPr marL="0" indent="0">
              <a:buNone/>
            </a:pPr>
            <a:r>
              <a:rPr sz="1400"/>
              <a:t>python test_workflow.py --live \</a:t>
            </a:r>
          </a:p>
          <a:p>
            <a:pPr marL="0" indent="0">
              <a:buNone/>
            </a:pPr>
            <a:r>
              <a:rPr sz="1400"/>
              <a:t>  "Total budget by project status."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8A1E48-C74E-4B7C-95F4-2342DAC9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03 · 截图位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ED5CB-0F60-480C-8DFA-C6BECBE0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2769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⑤   All offline tests passed，以及发现到的 6 个 MCP 工具清单</a:t>
            </a:r>
          </a:p>
        </p:txBody>
      </p:sp>
      <p:sp>
        <p:nvSpPr>
          <p:cNvPr id="20" name="Picture Placeholder 19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2AF106-638F-4EEC-99B4-EE796C96E1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>
              <a:ea typeface="Microsoft YaHei" panose="020B0503020204020204" pitchFamily="34" charset="-122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E91F6-F618-4448-89FB-05078231BE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⑥   --live 输出的 ANSWER 文本，与生成的 PNG 图表并排</a:t>
            </a:r>
          </a:p>
        </p:txBody>
      </p:sp>
      <p:sp>
        <p:nvSpPr>
          <p:cNvPr id="21" name="Picture Placeholder 20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3F13AE1-6DF6-44C8-8E77-DE9482E06D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8A1E48-C74E-4B7C-95F4-2342DAC9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04</a:t>
            </a:r>
            <a:b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 Copilot 应用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E4EA-274B-4BE4-9A52-00B5B2697A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216" y="3310128"/>
            <a:ext cx="4160520" cy="310896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accent1"/>
                </a:solidFill>
                <a:ea typeface="Microsoft YaHei" panose="020B0503020204020204" pitchFamily="34" charset="-122"/>
              </a:rPr>
              <a:t>20 分钟 · FastAPI · ACS Email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目标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起 API 服务，理解四个端点的分工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用聊天界面提问并看到图表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把结论通过邮件分享出去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动手点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读 app.js，看前端如何消费 /ask 与 /charts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验收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浏览器出答案与图表，邮件送达</a:t>
            </a:r>
          </a:p>
        </p:txBody>
      </p:sp>
      <p:pic>
        <p:nvPicPr>
          <p:cNvPr id="6" name="Picture Placeholder 5" descr="Microsoft Solutions Day 模板图片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l="4370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BEE76E7-B042-4BFE-9213-B8FE7EE4C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04 · 步骤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5D9877-6838-9E47-886F-26028339CB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/>
          <a:lstStyle/>
          <a:p>
            <a:pPr marL="0" indent="0">
              <a:buNone/>
            </a:pPr>
            <a:r>
              <a:t>bash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356C9A3-B156-574B-B2DF-9FCF81A25E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sz="1400"/>
              <a:t>cd code/agents</a:t>
            </a:r>
          </a:p>
          <a:p>
            <a:pPr marL="0" indent="0">
              <a:buNone/>
            </a:pPr>
            <a:r>
              <a:rPr sz="1400"/>
              <a:t>uvicorn api:app --port 8000</a:t>
            </a:r>
          </a:p>
          <a:p>
            <a:pPr marL="0" indent="0">
              <a:buNone/>
            </a:pPr>
            <a:endParaRPr sz="1400"/>
          </a:p>
          <a:p>
            <a:pPr marL="0" indent="0">
              <a:buNone/>
            </a:pPr>
            <a:r>
              <a:rPr lang="zh-CN" altLang="en-US" sz="1400"/>
              <a:t># 浏览器打开</a:t>
            </a:r>
          </a:p>
          <a:p>
            <a:pPr marL="0" indent="0">
              <a:buNone/>
            </a:pPr>
            <a:r>
              <a:rPr sz="1400"/>
              <a:t>open http://127.0.0.1:8000/</a:t>
            </a:r>
          </a:p>
          <a:p>
            <a:pPr marL="0" indent="0">
              <a:buNone/>
            </a:pPr>
            <a:endParaRPr sz="1400"/>
          </a:p>
          <a:p>
            <a:pPr marL="0" indent="0">
              <a:buNone/>
            </a:pPr>
            <a:r>
              <a:rPr lang="zh-CN" altLang="en-US" sz="1400"/>
              <a:t># 健康检查</a:t>
            </a:r>
          </a:p>
          <a:p>
            <a:pPr marL="0" indent="0">
              <a:buNone/>
            </a:pPr>
            <a:r>
              <a:rPr sz="1400"/>
              <a:t>curl -s localhost:8000/health</a:t>
            </a:r>
          </a:p>
          <a:p>
            <a:pPr marL="0" indent="0">
              <a:buNone/>
            </a:pPr>
            <a:endParaRPr sz="1400"/>
          </a:p>
          <a:p>
            <a:pPr marL="0" indent="0">
              <a:buNone/>
            </a:pPr>
            <a:r>
              <a:rPr lang="zh-CN" altLang="en-US" sz="1400"/>
              <a:t># 四个端点</a:t>
            </a:r>
          </a:p>
          <a:p>
            <a:pPr marL="0" indent="0">
              <a:buNone/>
            </a:pPr>
            <a:r>
              <a:rPr sz="1400"/>
              <a:t>#   GET  /health</a:t>
            </a:r>
          </a:p>
          <a:p>
            <a:pPr marL="0" indent="0">
              <a:buNone/>
            </a:pPr>
            <a:r>
              <a:rPr sz="1400"/>
              <a:t>#   POST /ask</a:t>
            </a:r>
          </a:p>
          <a:p>
            <a:pPr marL="0" indent="0">
              <a:buNone/>
            </a:pPr>
            <a:r>
              <a:rPr sz="1400"/>
              <a:t>#   GET  /charts/{name}</a:t>
            </a:r>
          </a:p>
          <a:p>
            <a:pPr marL="0" indent="0">
              <a:buNone/>
            </a:pPr>
            <a:r>
              <a:rPr sz="1400"/>
              <a:t>#   POST /send-email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AE3C69-6BB3-A84A-BCA2-E8D1F77811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① 启动 FastAPI，静态站点由同一进程提供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② 打开首页，用中文提问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③ 观察答案与图表如何回传并渲染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④ 点「发送结果到邮箱」，走 ACS Email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⑤ 读前端代码，理解它怎么调后端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 b="1">
                <a:solidFill>
                  <a:schemeClr val="accent1"/>
                </a:solidFill>
                <a:ea typeface="Microsoft YaHei" panose="020B0503020204020204" pitchFamily="34" charset="-122"/>
              </a:rPr>
              <a:t>未配置 ACS 时 /send-email 返回 503，这是预期行为。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8A1E48-C74E-4B7C-95F4-2342DAC9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04 · 截图位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ED5CB-0F60-480C-8DFA-C6BECBE0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2769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⑦   聊天界面的完整一轮问答，含渲染出来的柱状图</a:t>
            </a:r>
          </a:p>
        </p:txBody>
      </p:sp>
      <p:sp>
        <p:nvSpPr>
          <p:cNvPr id="20" name="Picture Placeholder 19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2AF106-638F-4EEC-99B4-EE796C96E1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>
              <a:ea typeface="Microsoft YaHei" panose="020B0503020204020204" pitchFamily="34" charset="-122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E91F6-F618-4448-89FB-05078231BE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⑧   收到的邮件：正文结论 + 图表附件</a:t>
            </a:r>
          </a:p>
        </p:txBody>
      </p:sp>
      <p:sp>
        <p:nvSpPr>
          <p:cNvPr id="21" name="Picture Placeholder 20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3F13AE1-6DF6-44C8-8E77-DE9482E06D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8A1E48-C74E-4B7C-95F4-2342DAC9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05</a:t>
            </a:r>
            <a:b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云端结构与一键部署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E4EA-274B-4BE4-9A52-00B5B2697A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216" y="3310128"/>
            <a:ext cx="4160520" cy="310896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accent1"/>
                </a:solidFill>
                <a:ea typeface="Microsoft YaHei" panose="020B0503020204020204" pitchFamily="34" charset="-122"/>
              </a:rPr>
              <a:t>30 分钟 · AKS · ACR · Entra 身份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目标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读懂 Bicep 的模块化结构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一条命令完成六个阶段的交付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理解无密码身份链的四个环节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动手点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打开 AKS Secret，确认没有任何模型 Key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验收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Web App URL 可访问，云端问答出图</a:t>
            </a:r>
          </a:p>
        </p:txBody>
      </p:sp>
      <p:pic>
        <p:nvPicPr>
          <p:cNvPr id="6" name="Picture Placeholder 5" descr="Microsoft Solutions Day 模板图片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l="4370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F59E7FAB-DAC3-4221-AE7D-1B55BCA2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05 · 步骤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AE3C69-6BB3-A84A-BCA2-E8D1F77811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5" y="1338139"/>
            <a:ext cx="4040185" cy="2000548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① 读 main.bicep 与 modules/，确认各模块职责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② 跑 deploy.sh 六阶段：建 ACR → 构建三个镜像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     → 部署 Bicep → 注入 Secret → 发布工作负载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     → 等公网 IP 并接线 Web App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③ 动手：打开 Secret，确认没有模型 Key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④ 云端提问，验证答案与本地一致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 b="1">
                <a:solidFill>
                  <a:schemeClr val="accent1"/>
                </a:solidFill>
                <a:ea typeface="Microsoft YaHei" panose="020B0503020204020204" pitchFamily="34" charset="-122"/>
              </a:rPr>
              <a:t>deploy.sh 会创建计费资源，课后记得执行 teardown.sh。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5D9877-6838-9E47-886F-26028339CB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t>bash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356C9A3-B156-574B-B2DF-9FCF81A25E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sz="1400"/>
              <a:t>cd code/cloud</a:t>
            </a:r>
          </a:p>
          <a:p>
            <a:pPr marL="0" indent="0">
              <a:buNone/>
            </a:pPr>
            <a:r>
              <a:rPr sz="1400"/>
              <a:t>bash scripts/deploy.sh</a:t>
            </a:r>
          </a:p>
          <a:p>
            <a:pPr marL="0" indent="0">
              <a:buNone/>
            </a:pPr>
            <a:endParaRPr sz="1400"/>
          </a:p>
          <a:p>
            <a:pPr marL="0" indent="0">
              <a:buNone/>
            </a:pPr>
            <a:r>
              <a:rPr sz="1400"/>
              <a:t>kubectl get pods -n opc-iq</a:t>
            </a:r>
          </a:p>
          <a:p>
            <a:pPr marL="0" indent="0">
              <a:buNone/>
            </a:pPr>
            <a:endParaRPr sz="1400"/>
          </a:p>
          <a:p>
            <a:pPr marL="0" indent="0">
              <a:buNone/>
            </a:pPr>
            <a:r>
              <a:rPr sz="1400"/>
              <a:t>kubectl get secret opc-agents-secret \</a:t>
            </a:r>
          </a:p>
          <a:p>
            <a:pPr marL="0" indent="0">
              <a:buNone/>
            </a:pPr>
            <a:r>
              <a:rPr sz="1400"/>
              <a:t>  -n opc-iq -o yaml</a:t>
            </a:r>
          </a:p>
          <a:p>
            <a:pPr marL="0" indent="0">
              <a:buNone/>
            </a:pPr>
            <a:endParaRPr sz="1400"/>
          </a:p>
          <a:p>
            <a:pPr marL="0" indent="0">
              <a:buNone/>
            </a:pPr>
            <a:r>
              <a:rPr lang="zh-CN" altLang="en-US" sz="1400"/>
              <a:t># 课后清理</a:t>
            </a:r>
          </a:p>
          <a:p>
            <a:pPr marL="0" indent="0">
              <a:buNone/>
            </a:pPr>
            <a:r>
              <a:rPr sz="1400"/>
              <a:t>bash scripts/teardown.sh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B51B6F-A6B6-4C5C-87D8-20DB1C85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05 · 截图位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CF24D87-8BE8-48F5-A782-AABCF1702C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⑨   deploy.sh 六个阶段的完整输出</a:t>
            </a:r>
          </a:p>
        </p:txBody>
      </p:sp>
      <p:sp>
        <p:nvSpPr>
          <p:cNvPr id="6" name="Picture Placeholder 5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4E11817-E1FF-4356-03DA-61E1B471DE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>
              <a:ea typeface="Microsoft YaHei" panose="020B0503020204020204" pitchFamily="34" charset="-122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2466CB0-8E3A-4B11-BE5B-DB09D902EB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⑩   kubectl get pods 显示 opc-agents 已 Running</a:t>
            </a:r>
          </a:p>
        </p:txBody>
      </p:sp>
      <p:sp>
        <p:nvSpPr>
          <p:cNvPr id="14" name="Picture Placeholder 13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7CCD6A-CA37-47A4-D3B9-2E0787153D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GB">
              <a:ea typeface="Microsoft YaHei" panose="020B0503020204020204" pitchFamily="34" charset="-122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62B81A3-15C0-4615-9103-E530FFE58E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⑪   云端 Web App 的问答与图表</a:t>
            </a:r>
          </a:p>
        </p:txBody>
      </p:sp>
      <p:sp>
        <p:nvSpPr>
          <p:cNvPr id="15" name="Picture Placeholder 14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A1BA8B-DC7E-DA31-CEE0-FCE228794F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781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8A1E48-C74E-4B7C-95F4-2342DAC9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05-1</a:t>
            </a:r>
            <a:b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资源受限版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E4EA-274B-4BE4-9A52-00B5B2697A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216" y="3310128"/>
            <a:ext cx="4160520" cy="310896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accent1"/>
                </a:solidFill>
                <a:ea typeface="Microsoft YaHei" panose="020B0503020204020204" pitchFamily="34" charset="-122"/>
              </a:rPr>
              <a:t>15 分钟 · Lab 05 的替代方案，二选一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目标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讲师预置重资源，学员只部署 Web 应用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不需要 kubectl，也拿不到任何密钥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"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同样完整体验 ACA 发布与反向代理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动手点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查看 scale 边界，理解冷启动的代价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zh-CN" altLang="en-US" sz="1600" b="1">
                <a:solidFill>
                  <a:schemeClr val="tx1"/>
                </a:solidFill>
                <a:ea typeface="Microsoft YaHei" panose="020B0503020204020204" pitchFamily="34" charset="-122"/>
              </a:rPr>
              <a:t>验收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zh-CN" altLang="en-US" sz="1600">
                <a:solidFill>
                  <a:schemeClr val="tx1"/>
                </a:solidFill>
                <a:ea typeface="Microsoft YaHei" panose="020B0503020204020204" pitchFamily="34" charset="-122"/>
              </a:rPr>
              <a:t>自己的 HTTPS 地址出图，scale 为 0–1</a:t>
            </a:r>
          </a:p>
        </p:txBody>
      </p:sp>
      <p:pic>
        <p:nvPicPr>
          <p:cNvPr id="6" name="Picture Placeholder 5" descr="Microsoft Solutions Day 模板图片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l="4370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BEE76E7-B042-4BFE-9213-B8FE7EE4C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05-1 · 步骤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5D9877-6838-9E47-886F-26028339CB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/>
          <a:lstStyle/>
          <a:p>
            <a:pPr marL="0" indent="0">
              <a:buNone/>
            </a:pPr>
            <a:r>
              <a:t>bash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356C9A3-B156-574B-B2DF-9FCF81A25E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sz="1400"/>
              <a:t>cd code/cloud/scripts</a:t>
            </a:r>
          </a:p>
          <a:p>
            <a:pPr marL="0" indent="0">
              <a:buNone/>
            </a:pPr>
            <a:endParaRPr sz="1400"/>
          </a:p>
          <a:p>
            <a:pPr marL="0" indent="0">
              <a:buNone/>
            </a:pPr>
            <a:r>
              <a:rPr lang="zh-CN" altLang="en-US" sz="1400"/>
              <a:t># 先预览，什么都不改</a:t>
            </a:r>
          </a:p>
          <a:p>
            <a:pPr marL="0" indent="0">
              <a:buNone/>
            </a:pPr>
            <a:r>
              <a:rPr lang="zh-CN" altLang="en-US" sz="1400"/>
              <a:t>bash deploy-web-only.sh &lt;你的应用名&gt; \</a:t>
            </a:r>
          </a:p>
          <a:p>
            <a:pPr marL="0" indent="0">
              <a:buNone/>
            </a:pPr>
            <a:r>
              <a:rPr sz="1400"/>
              <a:t>  --preview</a:t>
            </a:r>
          </a:p>
          <a:p>
            <a:pPr marL="0" indent="0">
              <a:buNone/>
            </a:pPr>
            <a:endParaRPr sz="1400"/>
          </a:p>
          <a:p>
            <a:pPr marL="0" indent="0">
              <a:buNone/>
            </a:pPr>
            <a:r>
              <a:rPr lang="zh-CN" altLang="en-US" sz="1400"/>
              <a:t># 正式部署，约 1–2 分钟</a:t>
            </a:r>
          </a:p>
          <a:p>
            <a:pPr marL="0" indent="0">
              <a:buNone/>
            </a:pPr>
            <a:r>
              <a:rPr lang="zh-CN" altLang="en-US" sz="1400"/>
              <a:t>bash deploy-web-only.sh &lt;你的应用名&gt;</a:t>
            </a:r>
          </a:p>
          <a:p>
            <a:pPr marL="0" indent="0">
              <a:buNone/>
            </a:pP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# 查看资源边界</a:t>
            </a:r>
          </a:p>
          <a:p>
            <a:pPr marL="0" indent="0">
              <a:buNone/>
            </a:pPr>
            <a:r>
              <a:rPr lang="zh-CN" altLang="en-US" sz="1400"/>
              <a:t>az containerapp show -g &lt;资源组&gt; \</a:t>
            </a:r>
          </a:p>
          <a:p>
            <a:pPr marL="0" indent="0">
              <a:buNone/>
            </a:pPr>
            <a:r>
              <a:rPr lang="zh-CN" altLang="en-US" sz="1400"/>
              <a:t>  -n &lt;你的应用名&gt; \</a:t>
            </a:r>
          </a:p>
          <a:p>
            <a:pPr marL="0" indent="0">
              <a:buNone/>
            </a:pPr>
            <a:r>
              <a:rPr sz="1400"/>
              <a:t>  --query "properties.template.scale"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AE3C69-6BB3-A84A-BCA2-E8D1F77811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① 把讲师发的 workshop-web.env 放到 scripts/ 下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② 应用名：3–32 位小写字母数字连字符，字母开头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③ 先 --preview 跑 what-if，验证登录与共享资源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④ 去掉 --preview 正式部署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>
                <a:ea typeface="Microsoft YaHei" panose="020B0503020204020204" pitchFamily="34" charset="-122"/>
              </a:rPr>
              <a:t>⑤ 打开输出的 HTTPS 地址提问验证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zh-CN" altLang="en-US" sz="1400" b="1">
                <a:solidFill>
                  <a:schemeClr val="accent1"/>
                </a:solidFill>
                <a:ea typeface="Microsoft YaHei" panose="020B0503020204020204" pitchFamily="34" charset="-122"/>
              </a:rPr>
              <a:t>脚本用的是 az 不是 azd；首次打开慢是 minReplicas=0 的冷启动。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8A1E48-C74E-4B7C-95F4-2342DAC9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Lab 05-1 · 截图位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ED5CB-0F60-480C-8DFA-C6BECBE0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2769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⑫   --preview 的 what-if 输出，共享资源预检全部通过</a:t>
            </a:r>
          </a:p>
        </p:txBody>
      </p:sp>
      <p:sp>
        <p:nvSpPr>
          <p:cNvPr id="20" name="Picture Placeholder 19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2AF106-638F-4EEC-99B4-EE796C96E1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>
              <a:ea typeface="Microsoft YaHei" panose="020B0503020204020204" pitchFamily="34" charset="-122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E91F6-F618-4448-89FB-05078231BE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400">
                <a:solidFill>
                  <a:schemeClr val="tx1"/>
                </a:solidFill>
                <a:ea typeface="Microsoft YaHei" panose="020B0503020204020204" pitchFamily="34" charset="-122"/>
              </a:rPr>
              <a:t>截图 ⑬   部署完成打印的 HTTPS 地址，以及浏览器里的问答结果</a:t>
            </a:r>
          </a:p>
        </p:txBody>
      </p:sp>
      <p:sp>
        <p:nvSpPr>
          <p:cNvPr id="21" name="Picture Placeholder 20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3F13AE1-6DF6-44C8-8E77-DE9482E06D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67E3-9B6E-DC3C-7295-22DF4DD72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· 总结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43DD8-5F07-B69F-E937-4ED19B1CBC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8772" y="3977319"/>
            <a:ext cx="4177284" cy="246221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你带走了什么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>
            <a:off x="585216" y="1325880"/>
            <a:ext cx="3429000" cy="4617720"/>
          </a:xfrm>
          <a:prstGeom prst="roundRect">
            <a:avLst>
              <a:gd name="adj" fmla="val 4266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786384" y="1554480"/>
            <a:ext cx="566928" cy="566928"/>
          </a:xfrm>
          <a:prstGeom prst="ellipse">
            <a:avLst/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0" name="Picture 49" descr="TbSearch_0078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42" y="1682038"/>
            <a:ext cx="311810" cy="31181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4379976" y="1325880"/>
            <a:ext cx="3429000" cy="4617720"/>
          </a:xfrm>
          <a:prstGeom prst="roundRect">
            <a:avLst>
              <a:gd name="adj" fmla="val 4266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4581144" y="1554480"/>
            <a:ext cx="566928" cy="566928"/>
          </a:xfrm>
          <a:prstGeom prst="ellipse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3" name="Picture 52" descr="TbPlug_7025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702" y="1682038"/>
            <a:ext cx="311810" cy="311810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8174736" y="1325880"/>
            <a:ext cx="3429000" cy="4617720"/>
          </a:xfrm>
          <a:prstGeom prst="roundRect">
            <a:avLst>
              <a:gd name="adj" fmla="val 4266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5" name="Oval 54"/>
          <p:cNvSpPr/>
          <p:nvPr/>
        </p:nvSpPr>
        <p:spPr>
          <a:xfrm>
            <a:off x="8375904" y="1554480"/>
            <a:ext cx="566928" cy="566928"/>
          </a:xfrm>
          <a:prstGeom prst="ellipse">
            <a:avLst/>
          </a:prstGeom>
          <a:solidFill>
            <a:schemeClr val="accent5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6" name="Picture 55" descr="TbShieldLock_225B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462" y="1682038"/>
            <a:ext cx="311810" cy="311810"/>
          </a:xfrm>
          <a:prstGeom prst="rect">
            <a:avLst/>
          </a:prstGeo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1F301958-DE5F-4AB2-97F9-69B1699A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三个决定性瞬间 · 每个阶段的高光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5D30401-1A5F-9972-F8CD-494C21C22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总结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A2588-DEEF-4466-B489-C48555FD0A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384" y="3154680"/>
            <a:ext cx="302666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没有写一行 SQL，也没有写 join，aggregate 直接给出 active 105000。</a:t>
            </a:r>
          </a:p>
          <a:p>
            <a:r>
              <a:rPr lang="zh-CN" altLang="en-US">
                <a:ea typeface="Microsoft YaHei" panose="020B0503020204020204" pitchFamily="34" charset="-122"/>
              </a:rPr>
              <a:t>地基就是在这一刻立住的。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881EA-0B91-4897-8A3A-ED859EA8E9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81144" y="3154680"/>
            <a:ext cx="302666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还没写任何智能体，Copilot 已经能查企业数据。</a:t>
            </a:r>
          </a:p>
          <a:p>
            <a:r>
              <a:rPr lang="zh-CN" altLang="en-US">
                <a:ea typeface="Microsoft YaHei" panose="020B0503020204020204" pitchFamily="34" charset="-122"/>
              </a:rPr>
              <a:t>加一个工具 = 加一项能力，智能体代码一行不动。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ADB5E4-83CF-47EF-AC04-3689C7951E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6384" y="2286000"/>
            <a:ext cx="302666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① 本体让关系可查</a:t>
            </a:r>
          </a:p>
          <a:p>
            <a:pPr marL="0" indent="0">
              <a:buNone/>
            </a:pPr>
            <a:r>
              <a:rPr>
                <a:solidFill>
                  <a:schemeClr val="accent1"/>
                </a:solidFill>
                <a:ea typeface="Microsoft YaHei" panose="020B0503020204020204" pitchFamily="34" charset="-122"/>
              </a:rPr>
              <a:t>Lab 01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586467-7936-4E76-9180-189FF966B5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1144" y="2286000"/>
            <a:ext cx="302666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② MCP 让能力可复用</a:t>
            </a:r>
          </a:p>
          <a:p>
            <a:pPr marL="0" indent="0">
              <a:buNone/>
            </a:pPr>
            <a:r>
              <a:rPr>
                <a:solidFill>
                  <a:schemeClr val="accent1"/>
                </a:solidFill>
                <a:ea typeface="Microsoft YaHei" panose="020B0503020204020204" pitchFamily="34" charset="-122"/>
              </a:rPr>
              <a:t>Lab 02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2F57858-903C-46A9-9906-73E81D0FC7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75904" y="2286000"/>
            <a:ext cx="3026664" cy="77724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③ 无密码让上云可信</a:t>
            </a:r>
          </a:p>
          <a:p>
            <a:pPr marL="0" indent="0">
              <a:buNone/>
            </a:pPr>
            <a:r>
              <a:rPr>
                <a:solidFill>
                  <a:schemeClr val="accent1"/>
                </a:solidFill>
                <a:ea typeface="Microsoft YaHei" panose="020B0503020204020204" pitchFamily="34" charset="-122"/>
              </a:rPr>
              <a:t>Lab 05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FF092BA-E74B-41E0-B979-21F5F70228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75904" y="3154680"/>
            <a:ext cx="3026664" cy="2651760"/>
          </a:xfrm>
        </p:spPr>
        <p:txBody>
          <a:bodyPr/>
          <a:lstStyle/>
          <a:p>
            <a:r>
              <a:rPr lang="zh-CN" altLang="en-US">
                <a:ea typeface="Microsoft YaHei" panose="020B0503020204020204" pitchFamily="34" charset="-122"/>
              </a:rPr>
              <a:t>打开 AKS Secret，里面没有任何模型 Key，</a:t>
            </a:r>
          </a:p>
          <a:p>
            <a:r>
              <a:rPr lang="zh-CN" altLang="en-US">
                <a:ea typeface="Microsoft YaHei" panose="020B0503020204020204" pitchFamily="34" charset="-122"/>
              </a:rPr>
              <a:t>系统却在集群里成功调用了模型。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>
            <a:off x="585216" y="1325880"/>
            <a:ext cx="5394960" cy="4846320"/>
          </a:xfrm>
          <a:prstGeom prst="roundRect">
            <a:avLst>
              <a:gd name="adj" fmla="val 3018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813816" y="1572768"/>
            <a:ext cx="566928" cy="566928"/>
          </a:xfrm>
          <a:prstGeom prst="ellipse">
            <a:avLst/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0" name="Picture 49" descr="TbBulb_0078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74" y="1700326"/>
            <a:ext cx="311810" cy="31181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6208776" y="1325880"/>
            <a:ext cx="5394960" cy="4846320"/>
          </a:xfrm>
          <a:prstGeom prst="roundRect">
            <a:avLst>
              <a:gd name="adj" fmla="val 3018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6437376" y="1572768"/>
            <a:ext cx="566928" cy="566928"/>
          </a:xfrm>
          <a:prstGeom prst="ellipse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3" name="Picture 52" descr="TbPackages_7025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934" y="1700326"/>
            <a:ext cx="311810" cy="311810"/>
          </a:xfrm>
          <a:prstGeom prst="rect">
            <a:avLst/>
          </a:prstGeo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1F301958-DE5F-4AB2-97F9-69B1699A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你带走了什么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1791BD-9B0C-6186-0ACE-827019CF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总结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A2588-DEEF-4466-B489-C48555FD0A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3816" y="2377440"/>
            <a:ext cx="4937760" cy="3657600"/>
          </a:xfrm>
        </p:spPr>
        <p:txBody>
          <a:bodyPr/>
          <a:lstStyle/>
          <a:p>
            <a:r>
              <a:rPr lang="zh-CN" altLang="en-US" sz="2000">
                <a:ea typeface="Microsoft YaHei" panose="020B0503020204020204" pitchFamily="34" charset="-122"/>
              </a:rPr>
              <a:t>用本体给业务关系建模的方法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用 MCP 标准化暴露受治理的数据能力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用 Agent Framework 编排多智能体分工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把 Copilot 当施工伙伴，而不是补全工具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用工作负载身份消灭配置里的密钥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881EA-0B91-4897-8A3A-ED859EA8E9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37376" y="2377440"/>
            <a:ext cx="4937760" cy="3657600"/>
          </a:xfrm>
        </p:spPr>
        <p:txBody>
          <a:bodyPr/>
          <a:lstStyle/>
          <a:p>
            <a:r>
              <a:rPr lang="zh-CN" altLang="en-US" sz="2000">
                <a:ea typeface="Microsoft YaHei" panose="020B0503020204020204" pitchFamily="34" charset="-122"/>
              </a:rPr>
              <a:t>一个可运行的完整仓库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六个 Lab 的分步讲义，中英双语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可复用的 Bicep 模板与部署脚本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离线安装包与课前自检脚本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一份 copilot-instructions，让 Copilot 懂这个项目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ADB5E4-83CF-47EF-AC04-3689C7951E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7904" y="1572768"/>
            <a:ext cx="4251960" cy="566928"/>
          </a:xfrm>
        </p:spPr>
        <p:txBody>
          <a:bodyPr anchor="ctr"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能力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80DA2C-210D-4425-AD02-4BE53C4F28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41464" y="1572768"/>
            <a:ext cx="4251960" cy="566928"/>
          </a:xfrm>
        </p:spPr>
        <p:txBody>
          <a:bodyPr anchor="ctr"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资产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>
            <a:off x="585216" y="1325880"/>
            <a:ext cx="5394960" cy="4846320"/>
          </a:xfrm>
          <a:prstGeom prst="roundRect">
            <a:avLst>
              <a:gd name="adj" fmla="val 3018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813816" y="1572768"/>
            <a:ext cx="566928" cy="566928"/>
          </a:xfrm>
          <a:prstGeom prst="ellipse">
            <a:avLst/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0" name="Picture 49" descr="TbCircleCheck_0078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74" y="1700326"/>
            <a:ext cx="311810" cy="31181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6208776" y="1325880"/>
            <a:ext cx="5394960" cy="4846320"/>
          </a:xfrm>
          <a:prstGeom prst="roundRect">
            <a:avLst>
              <a:gd name="adj" fmla="val 3018"/>
            </a:avLst>
          </a:prstGeom>
          <a:solidFill>
            <a:schemeClr val="bg1"/>
          </a:solid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01600" dist="31750" dir="5400000" algn="t" rotWithShape="0">
              <a:srgbClr val="091F2C">
                <a:alpha val="12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6437376" y="1572768"/>
            <a:ext cx="566928" cy="566928"/>
          </a:xfrm>
          <a:prstGeom prst="ellipse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3" name="Picture 52" descr="TbAlertTriangle_7025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934" y="1700326"/>
            <a:ext cx="311810" cy="311810"/>
          </a:xfrm>
          <a:prstGeom prst="rect">
            <a:avLst/>
          </a:prstGeo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1F301958-DE5F-4AB2-97F9-69B1699A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边界与现实 · 坦白说清楚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1791BD-9B0C-6186-0ACE-827019CF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ea typeface="Microsoft YaHei" panose="020B0503020204020204" pitchFamily="34" charset="-122"/>
              </a:rPr>
              <a:t>总结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A2588-DEEF-4466-B489-C48555FD0A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3816" y="2377440"/>
            <a:ext cx="4937760" cy="3657600"/>
          </a:xfrm>
        </p:spPr>
        <p:txBody>
          <a:bodyPr/>
          <a:lstStyle/>
          <a:p>
            <a:r>
              <a:rPr lang="zh-CN" altLang="en-US" sz="2000">
                <a:ea typeface="Microsoft YaHei" panose="020B0503020204020204" pitchFamily="34" charset="-122"/>
              </a:rPr>
              <a:t>助理 + 分析师双智能体顺序工作流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本地 MCP 解析本体，11 行模拟数据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答案 grounded，聚合在服务端完成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沙箱会话池已预置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云端全程无密码调用模型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881EA-0B91-4897-8A3A-ED859EA8E9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37376" y="2377440"/>
            <a:ext cx="4937760" cy="3657600"/>
          </a:xfrm>
        </p:spPr>
        <p:txBody>
          <a:bodyPr/>
          <a:lstStyle/>
          <a:p>
            <a:r>
              <a:rPr lang="zh-CN" altLang="en-US" sz="2000">
                <a:ea typeface="Microsoft YaHei" panose="020B0503020204020204" pitchFamily="34" charset="-122"/>
              </a:rPr>
              <a:t>数据源换成 OneLake 与真实 Fabric IQ 本体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实体与关系的规模远不止 3 和 2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邮件需要自定义域并评估发送配额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需要 CI/CD、灰度发布与回滚</a:t>
            </a:r>
          </a:p>
          <a:p>
            <a:r>
              <a:rPr lang="zh-CN" altLang="en-US" sz="2000">
                <a:ea typeface="Microsoft YaHei" panose="020B0503020204020204" pitchFamily="34" charset="-122"/>
              </a:rPr>
              <a:t>需要可观测性、成本治理与告警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zh-CN" altLang="en-US" sz="2000" b="1">
                <a:solidFill>
                  <a:schemeClr val="accent1"/>
                </a:solidFill>
                <a:ea typeface="Microsoft YaHei" panose="020B0503020204020204" pitchFamily="34" charset="-122"/>
              </a:rPr>
              <a:t>说清边界不削弱课程 —— 每个技术点都真实可用，只是规模压到三小时能走完。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ADB5E4-83CF-47EF-AC04-3689C7951E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7904" y="1572768"/>
            <a:ext cx="4251960" cy="566928"/>
          </a:xfrm>
        </p:spPr>
        <p:txBody>
          <a:bodyPr anchor="ctr"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课程已实现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80DA2C-210D-4425-AD02-4BE53C4F28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41464" y="1572768"/>
            <a:ext cx="4251960" cy="566928"/>
          </a:xfrm>
        </p:spPr>
        <p:txBody>
          <a:bodyPr anchor="ctr"/>
          <a:lstStyle/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ea typeface="Microsoft YaHei" panose="020B0503020204020204" pitchFamily="34" charset="-122"/>
              </a:rPr>
              <a:t>到生产还差什么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BFE083-6F48-97C6-928D-AC622FDA3F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4979" y="2646402"/>
            <a:ext cx="11018520" cy="553998"/>
          </a:xfrm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buNone/>
            </a:pPr>
            <a:r>
              <a:rPr lang="en-US" dirty="0" err="1">
                <a:ea typeface="Microsoft YaHei" panose="020B0503020204020204" pitchFamily="34" charset="-122"/>
              </a:rPr>
              <a:t>谢谢</a:t>
            </a:r>
            <a:r>
              <a:rPr lang="zh-CN" altLang="en-US">
                <a:ea typeface="Microsoft YaHei" panose="020B0503020204020204" pitchFamily="34" charset="-122"/>
              </a:rPr>
              <a:t>！</a:t>
            </a:r>
            <a:endParaRPr lang="en-US"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108203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icrosoft Frontier Transformation Day 16:9 Template Light">
  <a:themeElements>
    <a:clrScheme name="Custom 95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8661C5"/>
      </a:accent2>
      <a:accent3>
        <a:srgbClr val="2A446F"/>
      </a:accent3>
      <a:accent4>
        <a:srgbClr val="8C8279"/>
      </a:accent4>
      <a:accent5>
        <a:srgbClr val="49C5B1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Frontier Transformation Day FY27_16-9 Event-template" id="{0E44C7F2-78FE-4D44-B3F9-87229D870050}" vid="{88D8E1C6-08DE-5342-AC3C-1F4D457C1B72}"/>
    </a:ext>
  </a:extLst>
</a:theme>
</file>

<file path=ppt/theme/theme2.xml><?xml version="1.0" encoding="utf-8"?>
<a:theme xmlns:a="http://schemas.openxmlformats.org/drawingml/2006/main" name="Microsoft Frontier Transformation Day 16:9 Template Dark">
  <a:themeElements>
    <a:clrScheme name="Custom 99">
      <a:dk1>
        <a:srgbClr val="2A446F"/>
      </a:dk1>
      <a:lt1>
        <a:srgbClr val="FFFFFF"/>
      </a:lt1>
      <a:dk2>
        <a:srgbClr val="2A446F"/>
      </a:dk2>
      <a:lt2>
        <a:srgbClr val="E8E6DF"/>
      </a:lt2>
      <a:accent1>
        <a:srgbClr val="8DC8E8"/>
      </a:accent1>
      <a:accent2>
        <a:srgbClr val="C5B4E3"/>
      </a:accent2>
      <a:accent3>
        <a:srgbClr val="49C5B1"/>
      </a:accent3>
      <a:accent4>
        <a:srgbClr val="E1D3C7"/>
      </a:accent4>
      <a:accent5>
        <a:srgbClr val="B9DCD2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Frontier Transformation Day FY27_16-9 Event-template" id="{0E44C7F2-78FE-4D44-B3F9-87229D870050}" vid="{DF50EB55-6320-A94A-B2D2-84D50C9B5F36}"/>
    </a:ext>
  </a:extLst>
</a:theme>
</file>

<file path=ppt/theme/theme3.xml><?xml version="1.0" encoding="utf-8"?>
<a:theme xmlns:a="http://schemas.openxmlformats.org/drawingml/2006/main" name="MSFT Cloud_Industry Slide Template-16x9">
  <a:themeElements>
    <a:clrScheme name="MSFT Cloud">
      <a:dk1>
        <a:srgbClr val="091F2C"/>
      </a:dk1>
      <a:lt1>
        <a:srgbClr val="FFFFFF"/>
      </a:lt1>
      <a:dk2>
        <a:srgbClr val="000000"/>
      </a:dk2>
      <a:lt2>
        <a:srgbClr val="FFF8F5"/>
      </a:lt2>
      <a:accent1>
        <a:srgbClr val="702573"/>
      </a:accent1>
      <a:accent2>
        <a:srgbClr val="C03BC4"/>
      </a:accent2>
      <a:accent3>
        <a:srgbClr val="0078D4"/>
      </a:accent3>
      <a:accent4>
        <a:srgbClr val="8DC8E8"/>
      </a:accent4>
      <a:accent5>
        <a:srgbClr val="225B62"/>
      </a:accent5>
      <a:accent6>
        <a:srgbClr val="D4EC8E"/>
      </a:accent6>
      <a:hlink>
        <a:srgbClr val="0078D4"/>
      </a:hlink>
      <a:folHlink>
        <a:srgbClr val="C03BC4"/>
      </a:folHlink>
    </a:clrScheme>
    <a:fontScheme name="FantasyxMSFT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tx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Cloud_Industry Slide Template-16x9_v06.potx" id="{22F967BE-1BE3-4E33-9E43-34A6A01C1D2B}" vid="{96DD2E20-957E-4F0C-81DD-10783C04073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6c031576-69ed-4c40-b991-af5ca7602f29">
      <Terms xmlns="http://schemas.microsoft.com/office/infopath/2007/PartnerControls"/>
    </lcf76f155ced4ddcb4097134ff3c332f>
    <TaxCatchAll xmlns="d5be0525-aecd-4dd9-868f-efce86292eb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5821AFF62DCA43BCC12B4297918C0A" ma:contentTypeVersion="15" ma:contentTypeDescription="Create a new document." ma:contentTypeScope="" ma:versionID="e1e20c2e29d85d84981259ce65b4bbe0">
  <xsd:schema xmlns:xsd="http://www.w3.org/2001/XMLSchema" xmlns:xs="http://www.w3.org/2001/XMLSchema" xmlns:p="http://schemas.microsoft.com/office/2006/metadata/properties" xmlns:ns1="http://schemas.microsoft.com/sharepoint/v3" xmlns:ns2="6c031576-69ed-4c40-b991-af5ca7602f29" xmlns:ns3="d5be0525-aecd-4dd9-868f-efce86292eb5" targetNamespace="http://schemas.microsoft.com/office/2006/metadata/properties" ma:root="true" ma:fieldsID="d2331149a4637d073ada0ee40869fb95" ns1:_="" ns2:_="" ns3:_="">
    <xsd:import namespace="http://schemas.microsoft.com/sharepoint/v3"/>
    <xsd:import namespace="6c031576-69ed-4c40-b991-af5ca7602f29"/>
    <xsd:import namespace="d5be0525-aecd-4dd9-868f-efce86292eb5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031576-69ed-4c40-b991-af5ca7602f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be0525-aecd-4dd9-868f-efce86292eb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5611675-237c-4791-a52f-68712fc2b400}" ma:internalName="TaxCatchAll" ma:showField="CatchAllData" ma:web="d5be0525-aecd-4dd9-868f-efce86292e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6c031576-69ed-4c40-b991-af5ca7602f29"/>
    <ds:schemaRef ds:uri="d5be0525-aecd-4dd9-868f-efce86292e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7BAB70-2B11-46AC-B73A-FE545BBC697C}">
  <ds:schemaRefs>
    <ds:schemaRef ds:uri="6c031576-69ed-4c40-b991-af5ca7602f29"/>
    <ds:schemaRef ds:uri="d5be0525-aecd-4dd9-868f-efce86292e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 Frontier Transformation Day FY27 16-9 Event Template</Template>
  <TotalTime>1</TotalTime>
  <Words>4364</Words>
  <Application>Microsoft Macintosh PowerPoint</Application>
  <PresentationFormat>宽屏</PresentationFormat>
  <Paragraphs>680</Paragraphs>
  <Slides>43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Microsoft YaHei</vt:lpstr>
      <vt:lpstr>Arial</vt:lpstr>
      <vt:lpstr>Consolas</vt:lpstr>
      <vt:lpstr>Segoe Sans Display</vt:lpstr>
      <vt:lpstr>Segoe Sans Display Semibold</vt:lpstr>
      <vt:lpstr>Segoe UI</vt:lpstr>
      <vt:lpstr>Segoe UI Semibold</vt:lpstr>
      <vt:lpstr>Wingdings</vt:lpstr>
      <vt:lpstr>Microsoft Frontier Transformation Day 16:9 Template Light</vt:lpstr>
      <vt:lpstr>Microsoft Frontier Transformation Day 16:9 Template Dark</vt:lpstr>
      <vt:lpstr>MSFT Cloud_Industry Slide Template-16x9</vt:lpstr>
      <vt:lpstr>企业 AI 化转型实战 · AI Company</vt:lpstr>
      <vt:lpstr>课程目录</vt:lpstr>
      <vt:lpstr>一页总览 · 这三小时会发生什么</vt:lpstr>
      <vt:lpstr>课程主线 · 一条线贯穿五个 Lab</vt:lpstr>
      <vt:lpstr>180 分钟议程</vt:lpstr>
      <vt:lpstr>01 · 业务故事</vt:lpstr>
      <vt:lpstr>这家公司 · A company at full sprint</vt:lpstr>
      <vt:lpstr>运营团队的一天 · 三个系统，零关系</vt:lpstr>
      <vt:lpstr>业务模型 · 三个实体，两条关系</vt:lpstr>
      <vt:lpstr>四个真实提问 · 表格在第几题崩掉</vt:lpstr>
      <vt:lpstr>问题与解法 · 缺的不是数据，是含义</vt:lpstr>
      <vt:lpstr>02 · 技术架构</vt:lpstr>
      <vt:lpstr>技术架构 · 五层，一次请求</vt:lpstr>
      <vt:lpstr>技术架构 · 一次提问的完整路径</vt:lpstr>
      <vt:lpstr>一次提问 · 端到端五跳</vt:lpstr>
      <vt:lpstr>四个关键设计 · 不是用了什么，是为什么</vt:lpstr>
      <vt:lpstr>本体的四个概念 · Fabric IQ 在本仓库的落点</vt:lpstr>
      <vt:lpstr>微软技术地图 · 每项技术扮演什么</vt:lpstr>
      <vt:lpstr>03 · 六个 Lab</vt:lpstr>
      <vt:lpstr>六个 Lab · 一张表看完</vt:lpstr>
      <vt:lpstr>Lab 01 定义企业 AI Copilot 解决方案</vt:lpstr>
      <vt:lpstr>Lab 01 · 步骤</vt:lpstr>
      <vt:lpstr>Lab 01 · 截图位</vt:lpstr>
      <vt:lpstr>Lab 02 数据架构与知识服务</vt:lpstr>
      <vt:lpstr>Lab 02 · 步骤</vt:lpstr>
      <vt:lpstr>Lab 02 · 截图位</vt:lpstr>
      <vt:lpstr>Lab 03 创建两个智能体</vt:lpstr>
      <vt:lpstr>Lab 03 · 步骤</vt:lpstr>
      <vt:lpstr>Lab 03 · 截图位</vt:lpstr>
      <vt:lpstr>Lab 04 生成 Copilot 应用</vt:lpstr>
      <vt:lpstr>Lab 04 · 步骤</vt:lpstr>
      <vt:lpstr>Lab 04 · 截图位</vt:lpstr>
      <vt:lpstr>Lab 05 云端结构与一键部署</vt:lpstr>
      <vt:lpstr>Lab 05 · 步骤</vt:lpstr>
      <vt:lpstr>Lab 05 · 截图位</vt:lpstr>
      <vt:lpstr>Lab 05-1 资源受限版</vt:lpstr>
      <vt:lpstr>Lab 05-1 · 步骤</vt:lpstr>
      <vt:lpstr>Lab 05-1 · 截图位</vt:lpstr>
      <vt:lpstr>04 · 总结</vt:lpstr>
      <vt:lpstr>三个决定性瞬间 · 每个阶段的高光</vt:lpstr>
      <vt:lpstr>你带走了什么</vt:lpstr>
      <vt:lpstr>边界与现实 · 坦白说清楚</vt:lpstr>
      <vt:lpstr>谢谢！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Microsoft Frontier Transformation Day</dc:subject>
  <dc:creator>Tiffany Liu (MCCANN ERICKSON USA INC)</dc:creator>
  <cp:keywords>Microsoft Frontier Transformation Day</cp:keywords>
  <dc:description/>
  <cp:lastModifiedBy>Tarry Wang</cp:lastModifiedBy>
  <cp:revision>8</cp:revision>
  <cp:lastPrinted>2023-02-15T20:48:24Z</cp:lastPrinted>
  <dcterms:created xsi:type="dcterms:W3CDTF">2026-08-05T06:23:31Z</dcterms:created>
  <dcterms:modified xsi:type="dcterms:W3CDTF">2026-09-06T00:09:09Z</dcterms:modified>
  <cp:category>Microsoft Frontier Transformation Day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0x010100A55821AFF62DCA43BCC12B4297918C0A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tadata">
    <vt:lpwstr/>
  </property>
  <property fmtid="{D5CDD505-2E9C-101B-9397-08002B2CF9AE}" pid="19" name="MediaServiceImageTags">
    <vt:lpwstr/>
  </property>
</Properties>
</file>